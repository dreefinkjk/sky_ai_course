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cover_17831432335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0" y="2011680"/>
            <a:ext cx="6858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5600" b="1">
                <a:solidFill>
                  <a:srgbClr val="FFFFFF"/>
                </a:solidFill>
                <a:latin typeface="Malgun Gothic"/>
              </a:defRPr>
            </a:pPr>
            <a:r>
              <a:t>AI는 동반자다</a:t>
            </a:r>
          </a:p>
          <a:p>
            <a:pPr>
              <a:defRPr sz="2400">
                <a:solidFill>
                  <a:srgbClr val="93C5FD"/>
                </a:solidFill>
                <a:latin typeface="Malgun Gothic"/>
              </a:defRPr>
            </a:pPr>
            <a:r>
              <a:t>AI를 생활 속에서 즐겁게 활용하는 방법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🎯 강좌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강좌 목표 </a:t>
            </a:r>
            <a:r>
              <a:rPr sz="1800">
                <a:solidFill>
                  <a:srgbClr val="CBD5E1"/>
                </a:solidFill>
              </a:rPr>
              <a:t>AI를 처음 다루거나 제대로 활용하지 못하는 분들에게 생활 속에서 AI를 즐겁게 활용하는 구체적인 가이드와 요령을 소개합니다.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sz="1800">
                <a:solidFill>
                  <a:srgbClr val="CBD5E1"/>
                </a:solidFill>
              </a:rPr>
              <a:t/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수강 대상 </a:t>
            </a:r>
            <a:r>
              <a:rPr sz="1800">
                <a:solidFill>
                  <a:srgbClr val="CBD5E1"/>
                </a:solidFill>
              </a:rPr>
              <a:t>AI를 입문하거나 어렵게 느끼시는 분, 일상이나 업무에서 AI 비서를 효율적으로 다루고 싶으신 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🌎 1. AI 동향 및 인사이트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🎬 AI 활용 동향 영상: </a:t>
            </a:r>
            <a:r>
              <a:rPr sz="1800" u="sng">
                <a:solidFill>
                  <a:srgbClr val="2DD4BF"/>
                </a:solidFill>
              </a:rPr>
              <a:t>https://www.youtube.com/watch?v=HZLJeuu07dI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💡 새로운 AI 트렌드: </a:t>
            </a:r>
            <a:r>
              <a:rPr sz="1800">
                <a:solidFill>
                  <a:srgbClr val="CBD5E1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에이전틱 AI: </a:t>
            </a:r>
            <a:r>
              <a:rPr sz="1600">
                <a:solidFill>
                  <a:srgbClr val="CBD5E1"/>
                </a:solidFill>
              </a:rPr>
              <a:t>대답하는 AI를 넘어, 주어진 목표를 주도적으로 완수하는 AI 시대 (직접 정보 구매 및 요약 등)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멀티모달: </a:t>
            </a:r>
            <a:r>
              <a:rPr sz="1600">
                <a:solidFill>
                  <a:srgbClr val="CBD5E1"/>
                </a:solidFill>
              </a:rPr>
              <a:t>텍스트를 넘어 이미지, 음성, 영상까지 완벽하게 이해하고 창작하는 AI 기술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온디바이스 AI와 SLM: </a:t>
            </a:r>
            <a:r>
              <a:rPr sz="1600">
                <a:solidFill>
                  <a:srgbClr val="CBD5E1"/>
                </a:solidFill>
              </a:rPr>
              <a:t>기기 탑재형 소형 AI로 데이터 유출 없는 보안성과 신속한 오프라인 작업 처리 지원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피지컬 AI: </a:t>
            </a:r>
            <a:r>
              <a:rPr sz="1600">
                <a:solidFill>
                  <a:srgbClr val="CBD5E1"/>
                </a:solidFill>
              </a:rPr>
              <a:t>로보틱스와 AI의 결합으로 스스로 물리적 환경을 판단하고 동작 수행 (예: 완벽한 계란후라이 뒤집기)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🌎 AI 활용 주요 사례 및 동향 영상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💬 1. AI 상담 (심리 및 고민 상담 - 3분) </a:t>
            </a:r>
            <a:r>
              <a:rPr sz="1800">
                <a:solidFill>
                  <a:srgbClr val="CBD5E1"/>
                </a:solidFill>
              </a:rPr>
              <a:t>사람에게 말하기 어려운 속마음을 24시간 들어주는 대화형 AI 사례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2DD4BF"/>
                </a:solidFill>
              </a:rPr>
              <a:t>🔗 유튜브 링크: </a:t>
            </a:r>
            <a:r>
              <a:rPr sz="1600" u="sng">
                <a:solidFill>
                  <a:srgbClr val="2DD4BF"/>
                </a:solidFill>
              </a:rPr>
              <a:t>https://youtube.com/shorts/1UNUNlzH3l8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✈️ 2. AI 여행 계획 세우기 (3분) </a:t>
            </a:r>
            <a:r>
              <a:rPr sz="1800">
                <a:solidFill>
                  <a:srgbClr val="CBD5E1"/>
                </a:solidFill>
              </a:rPr>
              <a:t>여행지 정보 입력으로 동선 설계, 구글지도 매핑, 맛집 산출하는 사례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2DD4BF"/>
                </a:solidFill>
              </a:rPr>
              <a:t>🔗 유튜브 링크: </a:t>
            </a:r>
            <a:r>
              <a:rPr sz="1600" u="sng">
                <a:solidFill>
                  <a:srgbClr val="2DD4BF"/>
                </a:solidFill>
              </a:rPr>
              <a:t>https://www.youtube.com/watch?v=kYJ-l27k8x8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🎬 3. 비디오 생성 AI, Sora 소개 (2분 30초) </a:t>
            </a:r>
            <a:r>
              <a:rPr sz="1800">
                <a:solidFill>
                  <a:srgbClr val="CBD5E1"/>
                </a:solidFill>
              </a:rPr>
              <a:t>텍스트 묘사만으로 고화질 3D 비디오를 창작하는 혁신적 영상 AI 기술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2DD4BF"/>
                </a:solidFill>
              </a:rPr>
              <a:t>🔗 유튜브 링크: </a:t>
            </a:r>
            <a:r>
              <a:rPr sz="1600" u="sng">
                <a:solidFill>
                  <a:srgbClr val="2DD4BF"/>
                </a:solidFill>
              </a:rPr>
              <a:t>https://www.youtube.com/watch?v=HK6y8DMNqQ0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💡 2. AI 대화하기: 3가지 기법과 바이브 코딩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1. R-C-T-F 공식 (기본 작성법) </a:t>
            </a:r>
            <a:r>
              <a:rPr sz="1800">
                <a:solidFill>
                  <a:srgbClr val="CBD5E1"/>
                </a:solidFill>
              </a:rPr>
              <a:t>역할(Role) + 배경(Context) + 작업(Task) + 형식(Format)을 결합하는 기본 기법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2. 생각의 고리 (CoT 기법) </a:t>
            </a:r>
            <a:r>
              <a:rPr sz="1800">
                <a:solidFill>
                  <a:srgbClr val="CBD5E1"/>
                </a:solidFill>
              </a:rPr>
              <a:t>"단계별로 차근차근 생각해줘"를 통해 AI의 추론 논리력과 계산 정확도를 획기적으로 상승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3. 예시 주입 (Shot 기반 프롬프팅) </a:t>
            </a:r>
            <a:r>
              <a:rPr sz="1800">
                <a:solidFill>
                  <a:srgbClr val="CBD5E1"/>
                </a:solidFill>
              </a:rPr>
              <a:t>대화 속에 예시(Shot)를 직접 보여주어 일정한 서식과 말투를 완벽하게 학습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🏄‍♂️ 바이브 코딩 (Vibe Coding): </a:t>
            </a:r>
            <a:r>
              <a:rPr sz="1800">
                <a:solidFill>
                  <a:srgbClr val="CBD5E1"/>
                </a:solidFill>
              </a:rPr>
              <a:t>코드 문법을 타이핑하지 않고 자연어로 원하는 앱의 기획과 의도(느낌)를 전달해 빌드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2DD4BF"/>
                </a:solidFill>
              </a:rPr>
              <a:t>🔗 참고 영상 [남들과 다르게 프롬프트 짜기]: </a:t>
            </a:r>
            <a:r>
              <a:rPr sz="1800" u="sng">
                <a:solidFill>
                  <a:srgbClr val="2DD4BF"/>
                </a:solidFill>
              </a:rPr>
              <a:t>https://youtube.com/shorts/TIr6_Bo8zfg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🛠️ 2-1. 프롬프트 작성의 기본: R-C-T-F 공식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📌 R-C-T-F 공식: </a:t>
            </a:r>
            <a:r>
              <a:rPr sz="1800">
                <a:solidFill>
                  <a:srgbClr val="CBD5E1"/>
                </a:solidFill>
              </a:rPr>
              <a:t>Role(역할) + Context(배경) + Task(작업) + Format(형식)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Role (역할): </a:t>
            </a:r>
            <a:r>
              <a:rPr sz="1600">
                <a:solidFill>
                  <a:srgbClr val="CBD5E1"/>
                </a:solidFill>
              </a:rPr>
              <a:t>AI에게 전문가 직함/페르소나 부여 (예: "너는 10년 차 일본 가이드야")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Context (배경): </a:t>
            </a:r>
            <a:r>
              <a:rPr sz="1600">
                <a:solidFill>
                  <a:srgbClr val="CBD5E1"/>
                </a:solidFill>
              </a:rPr>
              <a:t>구체적인 본인의 상황 및 제한 요소 전달 (예: "무릎 아픈 부모님 동반")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Task (작업): </a:t>
            </a:r>
            <a:r>
              <a:rPr sz="1600">
                <a:solidFill>
                  <a:srgbClr val="CBD5E1"/>
                </a:solidFill>
              </a:rPr>
              <a:t>수행할 구체적인 미션/명령 (예: "동선을 최소화한 최적 코스 설계")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Format (형식): </a:t>
            </a:r>
            <a:r>
              <a:rPr sz="1600">
                <a:solidFill>
                  <a:srgbClr val="CBD5E1"/>
                </a:solidFill>
              </a:rPr>
              <a:t>원하는 출력 양식 지정 (예: "시간대별 깔끔한 표로 정리해줘")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🧠 2-2. 생각의 고리: Chain of Thought (CoT)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핵심 개념: </a:t>
            </a:r>
            <a:r>
              <a:rPr sz="1800">
                <a:solidFill>
                  <a:srgbClr val="CBD5E1"/>
                </a:solidFill>
              </a:rPr>
              <a:t>복잡한 문제 해결 시 바로 답을 구하기보다 논리적 절차를 순차적으로 생각하게 유도합니다.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핵심 키워드: </a:t>
            </a:r>
            <a:r>
              <a:rPr sz="1800">
                <a:solidFill>
                  <a:srgbClr val="CBD5E1"/>
                </a:solidFill>
              </a:rPr>
              <a:t>"단계별로 생각을 나누어 차근차근 풀이해줘" 문장 추가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💡 CoT 적용 예시 (수학 문제): </a:t>
            </a:r>
            <a:r>
              <a:rPr sz="1800">
                <a:solidFill>
                  <a:srgbClr val="CBD5E1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질문: </a:t>
            </a:r>
            <a:r>
              <a:rPr sz="1600">
                <a:solidFill>
                  <a:srgbClr val="CBD5E1"/>
                </a:solidFill>
              </a:rPr>
              <a:t>"학생 30명 중 축구를 좋아하는 애가 60%이고 그중 안경 쓴 애가 1/3이야. 안경 쓴 애는 몇 명인지 단계별로 차근차근 풀이해줘."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AI 단계별 풀이 과정: </a:t>
            </a:r>
            <a:r>
              <a:rPr sz="1600">
                <a:solidFill>
                  <a:srgbClr val="CBD5E1"/>
                </a:solidFill>
              </a:rPr>
              <a:t/>
            </a:r>
          </a:p>
          <a:p>
            <a:pPr lvl="2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600">
                <a:solidFill>
                  <a:srgbClr val="93C5FD"/>
                </a:solidFill>
              </a:rPr>
              <a:t>  - 1단계: </a:t>
            </a:r>
            <a:r>
              <a:rPr sz="1400">
                <a:solidFill>
                  <a:srgbClr val="CBD5E1"/>
                </a:solidFill>
              </a:rPr>
              <a:t>축구 좋아하는 학생 수 계산 = 30명 * 0.6 = 18명</a:t>
            </a:r>
          </a:p>
          <a:p>
            <a:pPr lvl="2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600">
                <a:solidFill>
                  <a:srgbClr val="93C5FD"/>
                </a:solidFill>
              </a:rPr>
              <a:t>  - 2단계: </a:t>
            </a:r>
            <a:r>
              <a:rPr sz="1400">
                <a:solidFill>
                  <a:srgbClr val="CBD5E1"/>
                </a:solidFill>
              </a:rPr>
              <a:t>그중 안경 쓴 학생 수 계산 = 18명 * 1/3 = 6명</a:t>
            </a:r>
          </a:p>
          <a:p>
            <a:pPr lvl="2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600">
                <a:solidFill>
                  <a:srgbClr val="93C5FD"/>
                </a:solidFill>
              </a:rPr>
              <a:t>  - 최종 답: </a:t>
            </a:r>
            <a:r>
              <a:rPr sz="1400">
                <a:solidFill>
                  <a:srgbClr val="CBD5E1"/>
                </a:solidFill>
              </a:rPr>
              <a:t>6명입니다.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🎯 2-3. 예시 주입: 샷(Shot) 기반 프롬프팅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샷(Shot) 종류와 Roblox 대화 실습 예시: </a:t>
            </a:r>
            <a:r>
              <a:rPr sz="1800">
                <a:solidFill>
                  <a:srgbClr val="CBD5E1"/>
                </a:solidFill>
              </a:rPr>
              <a:t>예시 주입을 통해 상황에 맞는 표현을 유도합니다.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Zero-shot (제로샷): </a:t>
            </a:r>
            <a:r>
              <a:rPr sz="1600">
                <a:solidFill>
                  <a:srgbClr val="CBD5E1"/>
                </a:solidFill>
              </a:rPr>
              <a:t>예시 없이 즉시 질문 (예: "로블록스에서 외국인과 대화하고 싶어")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One-shot (원샷): </a:t>
            </a:r>
            <a:r>
              <a:rPr sz="1600">
                <a:solidFill>
                  <a:srgbClr val="CBD5E1"/>
                </a:solidFill>
              </a:rPr>
              <a:t>원하는 스타일의 대화 예시를 딱 1개 보여주고 지시</a:t>
            </a:r>
          </a:p>
          <a:p>
            <a:pPr lvl="2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600">
                <a:solidFill>
                  <a:srgbClr val="93C5FD"/>
                </a:solidFill>
              </a:rPr>
              <a:t>  - 주입 예시: </a:t>
            </a:r>
            <a:r>
              <a:rPr sz="1400">
                <a:solidFill>
                  <a:srgbClr val="CBD5E1"/>
                </a:solidFill>
              </a:rPr>
              <a:t>"님! 제발 사냥터 A 같이 깨주시면 안될까요?" (번역 뼈대 제공)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Few-shot (퓨샷): </a:t>
            </a:r>
            <a:r>
              <a:rPr sz="1600">
                <a:solidFill>
                  <a:srgbClr val="CBD5E1"/>
                </a:solidFill>
              </a:rPr>
              <a:t>구체적인 자주 쓰이는 게임 대화 예시를 3개 이상 입력하여 학습</a:t>
            </a:r>
          </a:p>
          <a:p>
            <a:pPr lvl="2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600">
                <a:solidFill>
                  <a:srgbClr val="93C5FD"/>
                </a:solidFill>
              </a:rPr>
              <a:t>  - 주입 예시: </a:t>
            </a:r>
            <a:r>
              <a:rPr sz="1400">
                <a:solidFill>
                  <a:srgbClr val="CBD5E1"/>
                </a:solidFill>
              </a:rPr>
              <a:t>"사냥터 같이 깨주실래요?", "아이템 교환 하실래요?", "내일 또 하실래요?" 등을 학습시켜 완벽한 번역기 톤 모방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🏄‍♂️ 3. 바이브 코딩 (Vibe Coding)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정의: </a:t>
            </a:r>
            <a:r>
              <a:rPr sz="1800">
                <a:solidFill>
                  <a:srgbClr val="CBD5E1"/>
                </a:solidFill>
              </a:rPr>
              <a:t>개발자가 문법을 작성하는 대신 자연어로 의도와 '느낌(Vibe)'을 설명하고, 실제 개발은 AI 에이전트가 수행하는 패러다임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3단계 개발 프로세스: </a:t>
            </a:r>
            <a:r>
              <a:rPr sz="1800">
                <a:solidFill>
                  <a:srgbClr val="CBD5E1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1. 지시(Vibe)하기: </a:t>
            </a:r>
            <a:r>
              <a:rPr sz="1600">
                <a:solidFill>
                  <a:srgbClr val="CBD5E1"/>
                </a:solidFill>
              </a:rPr>
              <a:t>"외국인과 게임을 같이 하기 위해 실시간 번역해주는 앱을 만들고 싶어" 처럼 자연어로 기획 설명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2. AI 자동 빌드: </a:t>
            </a:r>
            <a:r>
              <a:rPr sz="1600">
                <a:solidFill>
                  <a:srgbClr val="CBD5E1"/>
                </a:solidFill>
              </a:rPr>
              <a:t>AI 에이전트가 코드를 스스로 설계/작성하고 에러도 스스로 디버깅 진행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3. 검증 및 지휘: </a:t>
            </a:r>
            <a:r>
              <a:rPr sz="1600">
                <a:solidFill>
                  <a:srgbClr val="CBD5E1"/>
                </a:solidFill>
              </a:rPr>
              <a:t>사람은 소스 코드를 일일이 뜯어보지 않고, 구현된 완성본을 보면서 추가 수정 피드백(지휘)만 수행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🛠️ 4. AI 활용 실습 (생활밀착형)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실습 1. Suno AI로 노래 만들기 </a:t>
            </a:r>
            <a:r>
              <a:rPr sz="1800">
                <a:solidFill>
                  <a:srgbClr val="CBD5E1"/>
                </a:solidFill>
              </a:rPr>
              <a:t>음악 작사/작곡 메타 정보를 이용한 댄스곡 창작 실습 (RCTF)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실습 2. 백종원 스타일 냉장고 털이 레시피 </a:t>
            </a:r>
            <a:r>
              <a:rPr sz="1800">
                <a:solidFill>
                  <a:srgbClr val="CBD5E1"/>
                </a:solidFill>
              </a:rPr>
              <a:t>냉장고 속 남은 재료 맞춤형 3단계 레시피 짜기 (R-C-T-F)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실습 3. 자녀 수학 숙제 캐리하기 </a:t>
            </a:r>
            <a:r>
              <a:rPr sz="1800">
                <a:solidFill>
                  <a:srgbClr val="CBD5E1"/>
                </a:solidFill>
              </a:rPr>
              <a:t>통분과 최소공배수 개념을 가르치는 친절한 설명 및 음성(TTS)용 멘트 작성 (COT)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실습 5. 중고등학생 축제/동아리 기획서 짜기 </a:t>
            </a:r>
            <a:r>
              <a:rPr sz="1800">
                <a:solidFill>
                  <a:srgbClr val="CBD5E1"/>
                </a:solidFill>
              </a:rPr>
              <a:t>AI와 다단계 검증 및 질의응답 피드백을 통해 최종 기획서 PPTX 완성 (바이브 코딩)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🎵 실습 1. Suno AI로 노래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참고 가이드 영상: </a:t>
            </a:r>
            <a:r>
              <a:rPr sz="1800" u="sng">
                <a:solidFill>
                  <a:srgbClr val="2DD4BF"/>
                </a:solidFill>
              </a:rPr>
              <a:t>https://www.youtube.com/shorts/4sZpKfbCo7A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무료 크레딧 안내: </a:t>
            </a:r>
            <a:r>
              <a:rPr sz="1800">
                <a:solidFill>
                  <a:srgbClr val="CBD5E1"/>
                </a:solidFill>
              </a:rPr>
              <a:t>매일 50크레딧 리셋 (1회당 10크레딧 소모 ➡️ 2곡 생성, 하루 총 10곡 무료)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1단계: GPT를 통한 작사(RCTF 프롬프트): </a:t>
            </a:r>
            <a:r>
              <a:rPr sz="1800">
                <a:solidFill>
                  <a:srgbClr val="CBD5E1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Role/Context: </a:t>
            </a:r>
            <a:r>
              <a:rPr sz="1600">
                <a:solidFill>
                  <a:srgbClr val="CBD5E1"/>
                </a:solidFill>
              </a:rPr>
              <a:t>"천재 작곡가 페르소나", "학원에 지친 중2 상황 및 누워서 뒹굴거리고 싶은 마음"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Task/Format: </a:t>
            </a:r>
            <a:r>
              <a:rPr sz="1600">
                <a:solidFill>
                  <a:srgbClr val="CBD5E1"/>
                </a:solidFill>
              </a:rPr>
              <a:t>"방탄 스타일 EDM 분위기 댄스곡 가사를 작사해줘", "Markdown 형식"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2단계: Suno AI 가사 및 세부 조건 지정: </a:t>
            </a:r>
            <a:r>
              <a:rPr sz="1800">
                <a:solidFill>
                  <a:srgbClr val="CBD5E1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조건: </a:t>
            </a:r>
            <a:r>
              <a:rPr sz="1600">
                <a:solidFill>
                  <a:srgbClr val="CBD5E1"/>
                </a:solidFill>
              </a:rPr>
              <a:t>욕설 비하 배제, 슬프지 않고 신나게, 인트로 드럼 솔로, 남자 가수 스타일 음색 지정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🍳 실습 2. 백종원 스타일 레시피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엄마 없는 날, 백종원 스타일 냉장고 털이 (R-C-T-F) </a:t>
            </a:r>
            <a:r>
              <a:rPr sz="1800">
                <a:solidFill>
                  <a:srgbClr val="CBD5E1"/>
                </a:solidFill>
              </a:rPr>
              <a:t>냉장고 속 방치된 재료들을 모아 전문 셰프급 요리로 재탄생시킵니다.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요리사 선택: </a:t>
            </a:r>
            <a:r>
              <a:rPr sz="1600">
                <a:solidFill>
                  <a:srgbClr val="CBD5E1"/>
                </a:solidFill>
              </a:rPr>
              <a:t>백종원 또는 김풍 요리사 중 본인의 요리 콘셉트에 맞춰 선택 가능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입력 데이터: </a:t>
            </a:r>
            <a:r>
              <a:rPr sz="1600">
                <a:solidFill>
                  <a:srgbClr val="CBD5E1"/>
                </a:solidFill>
              </a:rPr>
              <a:t>냉장고 속 식재료 리스트 (예: 어제 먹던 햄, 시들어가는 대파, 찬밥 등)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수행 미션: </a:t>
            </a:r>
            <a:r>
              <a:rPr sz="1600">
                <a:solidFill>
                  <a:srgbClr val="CBD5E1"/>
                </a:solidFill>
              </a:rPr>
              <a:t>설거지거리를 줄이는 '초간단 원팬(One-pan) 요리' 제안 요청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최종 포맷: </a:t>
            </a:r>
            <a:r>
              <a:rPr sz="1600">
                <a:solidFill>
                  <a:srgbClr val="CBD5E1"/>
                </a:solidFill>
              </a:rPr>
              <a:t>친근한 백종원 말투(~쥬)로 구성된 요리명, 준비물, 3단계 조리법, 비밀 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🏫 실습 3. 자녀 수학 숙제 캐리하기 (COT 방식)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통분을 어려워하는 아이를 위한 수학 도우미: </a:t>
            </a:r>
            <a:r>
              <a:rPr sz="1800">
                <a:solidFill>
                  <a:srgbClr val="CBD5E1"/>
                </a:solidFill>
              </a:rPr>
              <a:t>공식을 암기시키는 칠판식 수학이 아닌 논리 유도 설명입니다.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페르소나 설정: </a:t>
            </a:r>
            <a:r>
              <a:rPr sz="1600">
                <a:solidFill>
                  <a:srgbClr val="CBD5E1"/>
                </a:solidFill>
              </a:rPr>
              <a:t>이해하기 쉽고 직관적으로 설명하는 공대생 T 성향의 Gemini 비서 가동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실습 프롬프트: </a:t>
            </a:r>
            <a:r>
              <a:rPr sz="1600">
                <a:solidFill>
                  <a:srgbClr val="CBD5E1"/>
                </a:solidFill>
              </a:rPr>
              <a:t>"아이가 분수 계산식에서 분모 통분하는 법을 모르는데 최소공배수를 이해하지 못해서 그런 것 같아. 곱셈부터 단계적으로 설명해서 통분을 이해하고 분수 계산을 할 수 있게 차근차근 설명해줘."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오디오 음성 설명 유도: </a:t>
            </a:r>
            <a:r>
              <a:rPr sz="1600">
                <a:solidFill>
                  <a:srgbClr val="CBD5E1"/>
                </a:solidFill>
              </a:rPr>
              <a:t>결과물을 스마트폰의 읽어주기 기능(TTS)으로 직접 들을 수 있도록 친근한 '구어체 음성 멘트 형식'으로 답변을 요청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🎪 실습 5. 축제/동아리 기획서 초안 짜기 (바이브 코딩)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AI와 피드백을 반복하며 완성해 나가는 바이브 코딩 프로세스: </a:t>
            </a:r>
            <a:r>
              <a:rPr sz="1800">
                <a:solidFill>
                  <a:srgbClr val="CBD5E1"/>
                </a:solidFill>
              </a:rPr>
              <a:t>점진적으로 요구사항을 수정 반영합니다.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1차 요청 (기획 초안): </a:t>
            </a:r>
            <a:r>
              <a:rPr sz="1600">
                <a:solidFill>
                  <a:srgbClr val="CBD5E1"/>
                </a:solidFill>
              </a:rPr>
              <a:t>축제 부스의 운영 방식, 준비물 리스트, 예산, 기대 효과 생성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2차 요청 (예외 상황 대비 검증): </a:t>
            </a:r>
            <a:r>
              <a:rPr sz="1600">
                <a:solidFill>
                  <a:srgbClr val="CBD5E1"/>
                </a:solidFill>
              </a:rPr>
              <a:t>"비가 올 경우나 햇볕이 너무 강할 경우에 대한 야외 운영 대비책을 추가해줘."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3차 요청 (기획 완성도 조율): </a:t>
            </a:r>
            <a:r>
              <a:rPr sz="1600">
                <a:solidFill>
                  <a:srgbClr val="CBD5E1"/>
                </a:solidFill>
              </a:rPr>
              <a:t>"기본적인 음악을 깔아두는 것이 좋을까? 그렇다면 어떤 장르가 부스에 어울릴까?"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• 4차 요청 (최종 발표 포맷 지정): </a:t>
            </a:r>
            <a:r>
              <a:rPr sz="1600">
                <a:solidFill>
                  <a:srgbClr val="CBD5E1"/>
                </a:solidFill>
              </a:rPr>
              <a:t>발표가 가능하도록 (제목, 목적, 운영 계획, 필요 물품, 기대 효과) 순의 PPTX 파일 작성을 지시 (표지에 월봉중학교 건물 사진 포함 조건 명시)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_ppt_bg_1783143682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📝 내용 요약 및 1강 도전해보기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오늘 배운 내용 요약: </a:t>
            </a:r>
            <a:r>
              <a:rPr sz="1800">
                <a:solidFill>
                  <a:srgbClr val="CBD5E1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1. R-C-T-F 기법: </a:t>
            </a:r>
            <a:r>
              <a:rPr sz="1600">
                <a:solidFill>
                  <a:srgbClr val="CBD5E1"/>
                </a:solidFill>
              </a:rPr>
              <a:t>기본적이고 구체적인 의사소통 뼈대 수립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2. CoT 기법: </a:t>
            </a:r>
            <a:r>
              <a:rPr sz="1600">
                <a:solidFill>
                  <a:srgbClr val="CBD5E1"/>
                </a:solidFill>
              </a:rPr>
              <a:t>논리적 절차를 순차적으로 생각하게 유도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3. Shot 기법: </a:t>
            </a:r>
            <a:r>
              <a:rPr sz="1600">
                <a:solidFill>
                  <a:srgbClr val="CBD5E1"/>
                </a:solidFill>
              </a:rPr>
              <a:t>예시를 통해 원하는 문서 형식과 뉘앙스를 교육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93C5FD"/>
                </a:solidFill>
              </a:rPr>
              <a:t>■ 1강 도전해보기 (미션): </a:t>
            </a:r>
            <a:r>
              <a:rPr sz="1800">
                <a:solidFill>
                  <a:srgbClr val="CBD5E1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1. AI를 이용해 내 목소리로 노래 만들기 </a:t>
            </a:r>
            <a:r>
              <a:rPr sz="1600">
                <a:solidFill>
                  <a:srgbClr val="CBD5E1"/>
                </a:solidFill>
              </a:rPr>
              <a:t>(suno-ai-app 이용)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2. AI를 이용해 함께하고 싶은 게임 만들기 </a:t>
            </a:r>
            <a:r>
              <a:rPr sz="1600">
                <a:solidFill>
                  <a:srgbClr val="CBD5E1"/>
                </a:solidFill>
              </a:rPr>
              <a:t>(AI와 함께하는 블록코딩으로 레고처럼 만들어보기)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93C5FD"/>
                </a:solidFill>
              </a:rPr>
              <a:t>3. AI를 이용해 3분 이하 다큐멘터리 영상 초안 만들기 (자막 포함) </a:t>
            </a:r>
            <a:r>
              <a:rPr sz="1600">
                <a:solidFill>
                  <a:srgbClr val="CBD5E1"/>
                </a:solidFill>
              </a:rPr>
              <a:t/>
            </a:r>
          </a:p>
          <a:p>
            <a:pPr lvl="2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600">
                <a:solidFill>
                  <a:srgbClr val="93C5FD"/>
                </a:solidFill>
              </a:rPr>
              <a:t>• 추천 주제: </a:t>
            </a:r>
            <a:r>
              <a:rPr sz="1400">
                <a:solidFill>
                  <a:srgbClr val="CBD5E1"/>
                </a:solidFill>
              </a:rPr>
              <a:t>내 남동생을 소개합니다, 우리집 강아지 소개 등 친근한 일상 이야기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