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011680"/>
            <a:ext cx="73152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5600" b="1">
                <a:solidFill>
                  <a:srgbClr val="FFFFFF"/>
                </a:solidFill>
                <a:latin typeface="Malgun Gothic"/>
              </a:defRPr>
            </a:pPr>
            <a:r>
              <a:t>AI는 동반자다</a:t>
            </a:r>
          </a:p>
          <a:p>
            <a:pPr>
              <a:defRPr sz="2400">
                <a:solidFill>
                  <a:srgbClr val="DBEAFE"/>
                </a:solidFill>
                <a:latin typeface="Malgun Gothic"/>
              </a:defRPr>
            </a:pPr>
            <a:r>
              <a:t>AI를 생활 속에서 즐겁게 활용하는 방법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Malgun Gothic"/>
              </a:defRPr>
            </a:pPr>
            <a:r>
              <a:t>🎯 강좌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■ 강좌 목표 </a:t>
            </a:r>
            <a:r>
              <a:rPr sz="1800">
                <a:solidFill>
                  <a:srgbClr val="475569"/>
                </a:solidFill>
              </a:rPr>
              <a:t>AI를 처음 다루거나 제대로 활용하지 못하는 분들에게 생활 속에서 AI를 즐겁게 활용하는 구체적인 가이드와 요령을 소개합니다.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sz="1800">
                <a:solidFill>
                  <a:srgbClr val="475569"/>
                </a:solidFill>
              </a:rPr>
              <a:t/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■ 수강 대상 </a:t>
            </a:r>
            <a:r>
              <a:rPr sz="1800">
                <a:solidFill>
                  <a:srgbClr val="475569"/>
                </a:solidFill>
              </a:rPr>
              <a:t>AI를 입문하거나 어렵게 느끼시는 분, 일상이나 업무에서 AI 비서를 효율적으로 다루고 싶으신 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Malgun Gothic"/>
              </a:defRPr>
            </a:pPr>
            <a:r>
              <a:t>🌎 1. AI 동향 및 인사이트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💡 핵심 메시지: </a:t>
            </a:r>
            <a:r>
              <a:rPr sz="1800">
                <a:solidFill>
                  <a:srgbClr val="475569"/>
                </a:solidFill>
              </a:rPr>
              <a:t>AI를 배우려고 기 쓰지 마라. 어떻게 쓸지를 고민해라.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• 제로 클릭: </a:t>
            </a:r>
            <a:r>
              <a:rPr sz="1600">
                <a:solidFill>
                  <a:srgbClr val="475569"/>
                </a:solidFill>
              </a:rPr>
              <a:t>정보 소비 방식이 검색 중심에서 AI 검증 및 단일 정답 추천 중심으로 변화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• 코파일럿: </a:t>
            </a:r>
            <a:r>
              <a:rPr sz="1600">
                <a:solidFill>
                  <a:srgbClr val="475569"/>
                </a:solidFill>
              </a:rPr>
              <a:t>업무 도구가 아닌 상호 협력하는 인공지능 '동료'의 시대 도입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• 생산의 대중화: </a:t>
            </a:r>
            <a:r>
              <a:rPr sz="1600">
                <a:solidFill>
                  <a:srgbClr val="475569"/>
                </a:solidFill>
              </a:rPr>
              <a:t>코딩이나 그래픽 지식이 없이도 아이디어 자체가 곧바로 상품이 되는 시대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Malgun Gothic"/>
              </a:defRPr>
            </a:pPr>
            <a:r>
              <a:t>💡 2. AI 대화하기: 3가지 핵심 기법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1. R-C-T-F 공식 (기본 작성법) </a:t>
            </a:r>
            <a:r>
              <a:rPr sz="1800">
                <a:solidFill>
                  <a:srgbClr val="475569"/>
                </a:solidFill>
              </a:rPr>
              <a:t>역할(Role) + 배경(Context) + 작업(Task) + 형식(Format)을 결합하는 핵심 뼈대 프롬프트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2. 생각의 고리 (CoT 기법) </a:t>
            </a:r>
            <a:r>
              <a:rPr sz="1800">
                <a:solidFill>
                  <a:srgbClr val="475569"/>
                </a:solidFill>
              </a:rPr>
              <a:t>"단계별로 차근차근 생각해줘"를 통해 AI의 추론 논리력과 정확도를 획기적으로 상승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3. 예시 주입 (Shot 기반 프롬프팅) </a:t>
            </a:r>
            <a:r>
              <a:rPr sz="1800">
                <a:solidFill>
                  <a:srgbClr val="475569"/>
                </a:solidFill>
              </a:rPr>
              <a:t>대화 속에 예시(Shot)를 직접 보여주어 일정한 서식과 말투를 완벽하게 모방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Malgun Gothic"/>
              </a:defRPr>
            </a:pPr>
            <a:r>
              <a:t>🛠️ 2-1. 프롬프트 작성의 기본: R-C-T-F 공식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📌 R-C-T-F 공식: </a:t>
            </a:r>
            <a:r>
              <a:rPr sz="1800">
                <a:solidFill>
                  <a:srgbClr val="475569"/>
                </a:solidFill>
              </a:rPr>
              <a:t>Role(역할) + Context(배경) + Task(작업) + Format(형식)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• Role (역할): </a:t>
            </a:r>
            <a:r>
              <a:rPr sz="1600">
                <a:solidFill>
                  <a:srgbClr val="475569"/>
                </a:solidFill>
              </a:rPr>
              <a:t>AI에게 전문가 직함/페르소나 부여 (예: "너는 10년 차 일본 가이드야")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• Context (배경): </a:t>
            </a:r>
            <a:r>
              <a:rPr sz="1600">
                <a:solidFill>
                  <a:srgbClr val="475569"/>
                </a:solidFill>
              </a:rPr>
              <a:t>구체적인 본인의 상황 및 제한 요소 전달 (예: "무릎 아픈 부모님 동반")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• Task (작업): </a:t>
            </a:r>
            <a:r>
              <a:rPr sz="1600">
                <a:solidFill>
                  <a:srgbClr val="475569"/>
                </a:solidFill>
              </a:rPr>
              <a:t>수행할 구체적인 미션/명령 (예: "동선을 최소화한 최적 코스 설계")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• Format (형식): </a:t>
            </a:r>
            <a:r>
              <a:rPr sz="1600">
                <a:solidFill>
                  <a:srgbClr val="475569"/>
                </a:solidFill>
              </a:rPr>
              <a:t>원하는 출력 양식 지정 (예: "시간대별 깔끔한 표로 정리해줘")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Malgun Gothic"/>
              </a:defRPr>
            </a:pPr>
            <a:r>
              <a:t>🧠 2-2. 생각의 고리: Chain of Thought (CoT)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■ 핵심 개념: </a:t>
            </a:r>
            <a:r>
              <a:rPr sz="1800">
                <a:solidFill>
                  <a:srgbClr val="475569"/>
                </a:solidFill>
              </a:rPr>
              <a:t>복잡한 문제 해결 시 바로 답을 구하기보다 논리적 절차를 순차적으로 생각하게 유도합니다.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■ 핵심 키워드: </a:t>
            </a:r>
            <a:r>
              <a:rPr sz="1800">
                <a:solidFill>
                  <a:srgbClr val="475569"/>
                </a:solidFill>
              </a:rPr>
              <a:t>"단계별로 생각을 나누어 차근차근 풀이해줘" 문장 추가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■ 효과: </a:t>
            </a:r>
            <a:r>
              <a:rPr sz="1800">
                <a:solidFill>
                  <a:srgbClr val="475569"/>
                </a:solidFill>
              </a:rPr>
              <a:t>수학, 기획, 로직 설계 등 복잡한 프롬프트에서 AI의 오답률과 오작동을 대폭 감소시킵니다.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Malgun Gothic"/>
              </a:defRPr>
            </a:pPr>
            <a:r>
              <a:t>🎯 2-3. 예시 주입: 샷(Shot) 기반 프롬프팅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■ 샷(Shot) 종류와 특징: </a:t>
            </a:r>
            <a:r>
              <a:rPr sz="1800">
                <a:solidFill>
                  <a:srgbClr val="475569"/>
                </a:solidFill>
              </a:rPr>
              <a:t>예시 개수에 따라 스타일 반영 수준이 다릅니다.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• Zero-shot (제로샷): </a:t>
            </a:r>
            <a:r>
              <a:rPr sz="1600">
                <a:solidFill>
                  <a:srgbClr val="475569"/>
                </a:solidFill>
              </a:rPr>
              <a:t>예시 없이 즉시 질문 (기본적인 단순 일상 질의에 사용)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• One-shot (원샷): </a:t>
            </a:r>
            <a:r>
              <a:rPr sz="1600">
                <a:solidFill>
                  <a:srgbClr val="475569"/>
                </a:solidFill>
              </a:rPr>
              <a:t>원하는 출력 예시를 딱 1개 보여주고 지시 (기본 서식 학습)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• Few-shot (퓨샷): </a:t>
            </a:r>
            <a:r>
              <a:rPr sz="1600">
                <a:solidFill>
                  <a:srgbClr val="475569"/>
                </a:solidFill>
              </a:rPr>
              <a:t>구체적인 우수 예시를 3개 이상 입력하여, 복잡한 서식이나 디테일한 뉘앙스/말투를 완벽히 훈련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Malgun Gothic"/>
              </a:defRPr>
            </a:pPr>
            <a:r>
              <a:t>🏄‍♂️ 3. 바이브 코딩 (Vibe Coding)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■ 정의: </a:t>
            </a:r>
            <a:r>
              <a:rPr sz="1800">
                <a:solidFill>
                  <a:srgbClr val="475569"/>
                </a:solidFill>
              </a:rPr>
              <a:t>개발자가 문법을 작성하는 대신 자연어로 의도와 '느낌(Vibe)'을 설명하고, 실제 개발은 AI 에이전트가 수행하는 패러다임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■ 3단계 개발 프로세스: </a:t>
            </a:r>
            <a:r>
              <a:rPr sz="1800">
                <a:solidFill>
                  <a:srgbClr val="475569"/>
                </a:solidFill>
              </a:rPr>
              <a:t/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1. 지시(Vibe)하기: </a:t>
            </a:r>
            <a:r>
              <a:rPr sz="1600">
                <a:solidFill>
                  <a:srgbClr val="475569"/>
                </a:solidFill>
              </a:rPr>
              <a:t>자연어로 만들고 싶은 내용을 설명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2. AI 자동 빌드: </a:t>
            </a:r>
            <a:r>
              <a:rPr sz="1600">
                <a:solidFill>
                  <a:srgbClr val="475569"/>
                </a:solidFill>
              </a:rPr>
              <a:t>AI 에이전트가 코드를 알아서 생성 및 디버깅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3. 검증 및 지휘: </a:t>
            </a:r>
            <a:r>
              <a:rPr sz="1600">
                <a:solidFill>
                  <a:srgbClr val="475569"/>
                </a:solidFill>
              </a:rPr>
              <a:t>결과물을 눈으로 직접 조작하며 수정 피드백을 전달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Malgun Gothic"/>
              </a:defRPr>
            </a:pPr>
            <a:r>
              <a:t>🛠️ 4. AI 활용 실습 (생활밀착형)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실습 1. Suno AI로 노래 만들기 </a:t>
            </a:r>
            <a:r>
              <a:rPr sz="1800">
                <a:solidFill>
                  <a:srgbClr val="475569"/>
                </a:solidFill>
              </a:rPr>
              <a:t>음악 작사/작곡 메타 정보를 이용한 곡 창작 실습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실습 2. 가족 맞춤형 일본 여행 계획 짜기 </a:t>
            </a:r>
            <a:r>
              <a:rPr sz="1800">
                <a:solidFill>
                  <a:srgbClr val="475569"/>
                </a:solidFill>
              </a:rPr>
              <a:t>걸음 최소화 동선 설계를 위한 R-C-T-F 적용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실습 3. 백종원 스타일 냉장고 털이 레시피 </a:t>
            </a:r>
            <a:r>
              <a:rPr sz="1800">
                <a:solidFill>
                  <a:srgbClr val="475569"/>
                </a:solidFill>
              </a:rPr>
              <a:t>냉장고 속 남은 재료 맞춤형 3단계 레시피 짜기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실습 4. 자녀 수학 숙제 캐리하기 </a:t>
            </a:r>
            <a:r>
              <a:rPr sz="1800">
                <a:solidFill>
                  <a:srgbClr val="475569"/>
                </a:solidFill>
              </a:rPr>
              <a:t>게임 비유와 CoT(생각의 고리)를 통한 개념 설명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실습 5. 중고등학생 축제/동아리 기획서 짜기 </a:t>
            </a:r>
            <a:r>
              <a:rPr sz="1800">
                <a:solidFill>
                  <a:srgbClr val="475569"/>
                </a:solidFill>
              </a:rPr>
              <a:t>형식화된 기획 초안 문서를 단번에 생성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Malgun Gothic"/>
              </a:defRPr>
            </a:pPr>
            <a:r>
              <a:t>🎵 실습 1. Suno AI로 노래 만들기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■ 무료 크레딧 안내: </a:t>
            </a:r>
            <a:r>
              <a:rPr sz="1800">
                <a:solidFill>
                  <a:srgbClr val="475569"/>
                </a:solidFill>
              </a:rPr>
              <a:t>매일 50크레딧 리셋 (1회당 10크레딧 소모 ➡️ 2곡 생성, 하루 총 10곡 무료)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■ 1단계: GPT를 통한 작사(RCT 프롬프트): </a:t>
            </a:r>
            <a:r>
              <a:rPr sz="1800">
                <a:solidFill>
                  <a:srgbClr val="475569"/>
                </a:solidFill>
              </a:rPr>
              <a:t/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• Role/Context: </a:t>
            </a:r>
            <a:r>
              <a:rPr sz="1600">
                <a:solidFill>
                  <a:srgbClr val="475569"/>
                </a:solidFill>
              </a:rPr>
              <a:t>"천재 작곡가 페르소나", "학원에 지친 중2 상황"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• Task/Format: </a:t>
            </a:r>
            <a:r>
              <a:rPr sz="1600">
                <a:solidFill>
                  <a:srgbClr val="475569"/>
                </a:solidFill>
              </a:rPr>
              <a:t>"방탄 스타일 EDM 댄스곡 가사 작사", "Markdown 형식"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■ 2단계: Suno AI 연출 및 세부 조건 지정: </a:t>
            </a:r>
            <a:r>
              <a:rPr sz="1800">
                <a:solidFill>
                  <a:srgbClr val="475569"/>
                </a:solidFill>
              </a:rPr>
              <a:t/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• 조건: </a:t>
            </a:r>
            <a:r>
              <a:rPr sz="1600">
                <a:solidFill>
                  <a:srgbClr val="475569"/>
                </a:solidFill>
              </a:rPr>
              <a:t>욕설 비하 배제, 슬프지 않고 신나게, 인트로 드럼 솔로, 남자 가수 스타일 음색 지정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Malgun Gothic"/>
              </a:defRPr>
            </a:pPr>
            <a:r>
              <a:t>✈️🍳 실습 2 &amp; 3: R-C-T-F 적용 프롬프트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■ 실습 2. 가족 맞춤형 오사카 여행 계획 (R-C-T-F) </a:t>
            </a:r>
            <a:r>
              <a:rPr sz="1800">
                <a:solidFill>
                  <a:srgbClr val="475569"/>
                </a:solidFill>
              </a:rPr>
              <a:t/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• 입력: </a:t>
            </a:r>
            <a:r>
              <a:rPr sz="1600">
                <a:solidFill>
                  <a:srgbClr val="475569"/>
                </a:solidFill>
              </a:rPr>
              <a:t>부모님 무릎 관절 고려, 초등학생 동반, 3박 4일, 특정 필수 코스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• 결과: </a:t>
            </a:r>
            <a:r>
              <a:rPr sz="1600">
                <a:solidFill>
                  <a:srgbClr val="475569"/>
                </a:solidFill>
              </a:rPr>
              <a:t>걷는 걸음을 최소화한 시간대별 표(Table) 일정 설계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■ 실습 3. 백종원 스타일 냉장고 털이 레시피 (R-C-T-F) </a:t>
            </a:r>
            <a:r>
              <a:rPr sz="1800">
                <a:solidFill>
                  <a:srgbClr val="475569"/>
                </a:solidFill>
              </a:rPr>
              <a:t/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• 입력: </a:t>
            </a:r>
            <a:r>
              <a:rPr sz="1600">
                <a:solidFill>
                  <a:srgbClr val="475569"/>
                </a:solidFill>
              </a:rPr>
              <a:t>냉장고에 남은 식재료 리스트 (예: 어제 먹던 햄, 대파, 찬밥 등)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• 결과: </a:t>
            </a:r>
            <a:r>
              <a:rPr sz="1600">
                <a:solidFill>
                  <a:srgbClr val="475569"/>
                </a:solidFill>
              </a:rPr>
              <a:t>백종원 말투(~쥬)로 완성하는 원팬 3단계 초간단 레시피와 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Malgun Gothic"/>
              </a:defRPr>
            </a:pPr>
            <a:r>
              <a:t>🏫🎪 실습 4 &amp; 5: CoT 및 기획서 적용 프롬프트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■ 실습 4. 최소공배수 자녀 수학 숙제 (CoT + 비유) </a:t>
            </a:r>
            <a:r>
              <a:rPr sz="1800">
                <a:solidFill>
                  <a:srgbClr val="475569"/>
                </a:solidFill>
              </a:rPr>
              <a:t/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• 비유 방식: </a:t>
            </a:r>
            <a:r>
              <a:rPr sz="1600">
                <a:solidFill>
                  <a:srgbClr val="475569"/>
                </a:solidFill>
              </a:rPr>
              <a:t>수학 공식 대신 아이가 좋아하는 게임(로블록스 장애물 레이저 발판) 규칙 비유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• 원리 설명: </a:t>
            </a:r>
            <a:r>
              <a:rPr sz="1600">
                <a:solidFill>
                  <a:srgbClr val="475569"/>
                </a:solidFill>
              </a:rPr>
              <a:t>단계별 풀이(CoT)를 유도하여 아이 눈높이 설명 생성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■ 실습 5. 축제/동아리 기획서 초안 짜기 (R-C-T-F) </a:t>
            </a:r>
            <a:r>
              <a:rPr sz="1800">
                <a:solidFill>
                  <a:srgbClr val="475569"/>
                </a:solidFill>
              </a:rPr>
              <a:t/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• 상황: </a:t>
            </a:r>
            <a:r>
              <a:rPr sz="1600">
                <a:solidFill>
                  <a:srgbClr val="475569"/>
                </a:solidFill>
              </a:rPr>
              <a:t>타자 빨리 치기 게임 부스 운영 계획 등 빈 기획안 구성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• 결과: </a:t>
            </a:r>
            <a:r>
              <a:rPr sz="1600">
                <a:solidFill>
                  <a:srgbClr val="475569"/>
                </a:solidFill>
              </a:rPr>
              <a:t>운영 계획, 필요 물품, 예상 예산, 기대 효과가 포맷화된 문서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9728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457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Malgun Gothic"/>
              </a:defRPr>
            </a:pPr>
            <a:r>
              <a:t>📝 내용 요약 및 1강 과제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■ 오늘 배운 내용 요약: </a:t>
            </a:r>
            <a:r>
              <a:rPr sz="1800">
                <a:solidFill>
                  <a:srgbClr val="475569"/>
                </a:solidFill>
              </a:rPr>
              <a:t/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1. R-C-T-F 기법: </a:t>
            </a:r>
            <a:r>
              <a:rPr sz="1600">
                <a:solidFill>
                  <a:srgbClr val="475569"/>
                </a:solidFill>
              </a:rPr>
              <a:t>기본적이고 구체적인 의사소통 뼈대 수립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2. CoT 기법: </a:t>
            </a:r>
            <a:r>
              <a:rPr sz="1600">
                <a:solidFill>
                  <a:srgbClr val="475569"/>
                </a:solidFill>
              </a:rPr>
              <a:t>논리적 절차를 순차적으로 생각하게 유도</a:t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3. Shot 기법: </a:t>
            </a:r>
            <a:r>
              <a:rPr sz="1600">
                <a:solidFill>
                  <a:srgbClr val="475569"/>
                </a:solidFill>
              </a:rPr>
              <a:t>예시를 통해 원하는 문서 형식과 뉘앙스를 교육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2000">
                <a:solidFill>
                  <a:srgbClr val="0F172A"/>
                </a:solidFill>
              </a:rPr>
              <a:t>■ 1강 홈워크 (미션): </a:t>
            </a:r>
            <a:r>
              <a:rPr sz="1800">
                <a:solidFill>
                  <a:srgbClr val="475569"/>
                </a:solidFill>
              </a:rPr>
              <a:t/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1. 내 목소리로 노래 만들기 (Suno 활용) </a:t>
            </a:r>
            <a:r>
              <a:rPr sz="1600">
                <a:solidFill>
                  <a:srgbClr val="475569"/>
                </a:solidFill>
              </a:rPr>
              <a:t/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2. 함께하고 싶은 게임 만들기 (블록코딩 활용) </a:t>
            </a:r>
            <a:r>
              <a:rPr sz="1600">
                <a:solidFill>
                  <a:srgbClr val="475569"/>
                </a:solidFill>
              </a:rPr>
              <a:t/>
            </a:r>
          </a:p>
          <a:p>
            <a:pPr lvl="1">
              <a:lnSpc>
                <a:spcPct val="120000"/>
              </a:lnSpc>
              <a:spcAft>
                <a:spcPts val="800"/>
              </a:spcAft>
              <a:defRPr>
                <a:latin typeface="Malgun Gothic"/>
              </a:defRPr>
            </a:pPr>
            <a:r>
              <a:rPr b="1" sz="1800">
                <a:solidFill>
                  <a:srgbClr val="0F172A"/>
                </a:solidFill>
              </a:rPr>
              <a:t>3. 3분 이하 다큐멘터리 영상 초안 만들기 (자막 포함) </a:t>
            </a:r>
            <a:r>
              <a:rPr sz="1600">
                <a:solidFill>
                  <a:srgbClr val="475569"/>
                </a:solidFill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