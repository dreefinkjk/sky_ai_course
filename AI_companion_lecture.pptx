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[강사 오프닝 멘트]</a:t>
            </a:r>
          </a:p>
          <a:p>
            <a:r>
              <a:t>"안녕하세요. 프리랜서 개발자로 20년째 일하고 있는 구자광이라고 합니다."</a:t>
            </a:r>
          </a:p>
          <a:p>
            <a:r>
              <a:t>"오늘은 'AI는 동반자다!' 라는 주제로 AI의 동향과 3가지 프롬프트 기법을 통해 AI를 다루는 법을 배워보겠습니다."</a:t>
            </a:r>
          </a:p>
          <a:p>
            <a:r>
              <a:t>"먼저 현재 AI가 어떻게 활용되는지 영상을 보시겠습니다."</a:t>
            </a:r>
          </a:p>
          <a:p>
            <a:r>
              <a:t>"영상을 보시는 중에 노트북 또는 핸드폰에 GPT, Claude, Gemini 중 하나와 Suno AI 앱을 설치해 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[강사 멘트]</a:t>
            </a:r>
          </a:p>
          <a:p>
            <a:r>
              <a:t>"자 이제 3가지 프롬프트 기법과 바이브 코딩에 대해 배워보겠습니다."</a:t>
            </a:r>
          </a:p>
          <a:p>
            <a:r>
              <a:t>"우리가 원하는 답변을 단번에 정확하게 얻어내기 위해 R-C-T-F 네 가지 요소를 꼭 기억하세요."</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cover_1783143233570.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0" y="2011680"/>
            <a:ext cx="6858000" cy="3657600"/>
          </a:xfrm>
          <a:prstGeom prst="rect">
            <a:avLst/>
          </a:prstGeom>
          <a:noFill/>
        </p:spPr>
        <p:txBody>
          <a:bodyPr wrap="square">
            <a:spAutoFit/>
          </a:bodyPr>
          <a:lstStyle/>
          <a:p>
            <a:pPr>
              <a:spcAft>
                <a:spcPts val="2000"/>
              </a:spcAft>
              <a:defRPr sz="5600" b="1">
                <a:solidFill>
                  <a:srgbClr val="FFFFFF"/>
                </a:solidFill>
                <a:latin typeface="Malgun Gothic"/>
              </a:defRPr>
            </a:pPr>
            <a:r>
              <a:t>AI는 동반자다</a:t>
            </a:r>
          </a:p>
          <a:p>
            <a:pPr>
              <a:defRPr sz="2400">
                <a:solidFill>
                  <a:srgbClr val="93C5FD"/>
                </a:solidFill>
                <a:latin typeface="Malgun Gothic"/>
              </a:defRPr>
            </a:pPr>
            <a:r>
              <a:t>AI를 생활 속에서 즐겁게 활용하는 방법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강좌 개요</a:t>
            </a:r>
          </a:p>
        </p:txBody>
      </p:sp>
      <p:sp>
        <p:nvSpPr>
          <p:cNvPr id="5" name="TextBox 4"/>
          <p:cNvSpPr txBox="1"/>
          <p:nvPr/>
        </p:nvSpPr>
        <p:spPr>
          <a:xfrm>
            <a:off x="914400" y="1828800"/>
            <a:ext cx="10332720" cy="41148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강좌 목표 </a:t>
            </a:r>
            <a:r>
              <a:rPr sz="1800">
                <a:solidFill>
                  <a:srgbClr val="CBD5E1"/>
                </a:solidFill>
              </a:rPr>
              <a:t>AI를 처음 다루거나 제대로 활용하지 못하는 사람들에게 AI를 생활 속에서 즐겁게 활용하는 방법을 소개하는 강좌</a:t>
            </a:r>
          </a:p>
          <a:p>
            <a:pPr>
              <a:lnSpc>
                <a:spcPct val="120000"/>
              </a:lnSpc>
              <a:spcAft>
                <a:spcPts val="800"/>
              </a:spcAft>
              <a:defRPr>
                <a:latin typeface="Malgun Gothic"/>
              </a:defRPr>
            </a:pPr>
            <a:r>
              <a:rPr sz="1800">
                <a:solidFill>
                  <a:srgbClr val="CBD5E1"/>
                </a:solidFill>
              </a:rPr>
              <a:t/>
            </a:r>
          </a:p>
          <a:p>
            <a:pPr>
              <a:lnSpc>
                <a:spcPct val="120000"/>
              </a:lnSpc>
              <a:spcAft>
                <a:spcPts val="800"/>
              </a:spcAft>
              <a:defRPr>
                <a:latin typeface="Malgun Gothic"/>
              </a:defRPr>
            </a:pPr>
            <a:r>
              <a:rPr b="1" sz="2000">
                <a:solidFill>
                  <a:srgbClr val="93C5FD"/>
                </a:solidFill>
              </a:rPr>
              <a:t>■ 수강 대상 </a:t>
            </a:r>
            <a:r>
              <a:rPr sz="1800">
                <a:solidFill>
                  <a:srgbClr val="CBD5E1"/>
                </a:solidFill>
              </a:rPr>
              <a:t>AI를 처음 접하거나 어려움을 겪는 분들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1. AI 동향 및 메인 인사이트</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AI 활용 영상 링크: </a:t>
            </a:r>
            <a:r>
              <a:rPr sz="1800" u="sng">
                <a:solidFill>
                  <a:srgbClr val="2DD4BF"/>
                </a:solidFill>
              </a:rPr>
              <a:t>https://www.youtube.com/watch?v=HZLJeuu07dI</a:t>
            </a:r>
          </a:p>
          <a:p>
            <a:pPr>
              <a:lnSpc>
                <a:spcPct val="120000"/>
              </a:lnSpc>
              <a:spcAft>
                <a:spcPts val="800"/>
              </a:spcAft>
              <a:defRPr>
                <a:latin typeface="Malgun Gothic"/>
              </a:defRPr>
            </a:pPr>
            <a:r>
              <a:rPr b="1" sz="2000">
                <a:solidFill>
                  <a:srgbClr val="93C5FD"/>
                </a:solidFill>
              </a:rPr>
              <a:t>💡 핵심 메시지 및 패러다임 변화: </a:t>
            </a:r>
            <a:r>
              <a:rPr sz="1800">
                <a:solidFill>
                  <a:srgbClr val="CBD5E1"/>
                </a:solidFill>
              </a:rPr>
              <a:t/>
            </a:r>
          </a:p>
          <a:p>
            <a:pPr lvl="1">
              <a:lnSpc>
                <a:spcPct val="120000"/>
              </a:lnSpc>
              <a:spcAft>
                <a:spcPts val="800"/>
              </a:spcAft>
              <a:defRPr>
                <a:latin typeface="Malgun Gothic"/>
              </a:defRPr>
            </a:pPr>
            <a:r>
              <a:rPr b="1" sz="1800">
                <a:solidFill>
                  <a:srgbClr val="93C5FD"/>
                </a:solidFill>
              </a:rPr>
              <a:t>• 에이전틱 AI: </a:t>
            </a:r>
            <a:r>
              <a:rPr sz="1600">
                <a:solidFill>
                  <a:srgbClr val="CBD5E1"/>
                </a:solidFill>
              </a:rPr>
              <a:t>대답 잘하는 AI가 아니라, 주어진 목표를 완수해주는 AI 시대가 왔습니다. (예: 책 추천을 넘어 직접 전자책을 구매해서 읽고 요약까지 수행)</a:t>
            </a:r>
          </a:p>
          <a:p>
            <a:pPr lvl="1">
              <a:lnSpc>
                <a:spcPct val="120000"/>
              </a:lnSpc>
              <a:spcAft>
                <a:spcPts val="800"/>
              </a:spcAft>
              <a:defRPr>
                <a:latin typeface="Malgun Gothic"/>
              </a:defRPr>
            </a:pPr>
            <a:r>
              <a:rPr b="1" sz="1800">
                <a:solidFill>
                  <a:srgbClr val="93C5FD"/>
                </a:solidFill>
              </a:rPr>
              <a:t>• 멀티모달: </a:t>
            </a:r>
            <a:r>
              <a:rPr sz="1600">
                <a:solidFill>
                  <a:srgbClr val="CBD5E1"/>
                </a:solidFill>
              </a:rPr>
              <a:t>텍스트뿐만 아니라 이미지, 음성, 영상을 이해하고 생성하는 AI 시대가 왔습니다. (예: 지브리 애니메이션 자가 구현)</a:t>
            </a:r>
          </a:p>
          <a:p>
            <a:pPr lvl="1">
              <a:lnSpc>
                <a:spcPct val="120000"/>
              </a:lnSpc>
              <a:spcAft>
                <a:spcPts val="800"/>
              </a:spcAft>
              <a:defRPr>
                <a:latin typeface="Malgun Gothic"/>
              </a:defRPr>
            </a:pPr>
            <a:r>
              <a:rPr b="1" sz="1800">
                <a:solidFill>
                  <a:srgbClr val="93C5FD"/>
                </a:solidFill>
              </a:rPr>
              <a:t>• 온디바이스 AI와 SLM: </a:t>
            </a:r>
            <a:r>
              <a:rPr sz="1600">
                <a:solidFill>
                  <a:srgbClr val="CBD5E1"/>
                </a:solidFill>
              </a:rPr>
              <a:t>소형 탑재형 AI로 데이터가 외부로 나가지 않고 기기 내에서 처리 (보안에 강하며 특정 작업은 클라우드 기반 AI보다 고속 처리. 예: 로보락스 청소기)</a:t>
            </a:r>
          </a:p>
          <a:p>
            <a:pPr lvl="1">
              <a:lnSpc>
                <a:spcPct val="120000"/>
              </a:lnSpc>
              <a:spcAft>
                <a:spcPts val="800"/>
              </a:spcAft>
              <a:defRPr>
                <a:latin typeface="Malgun Gothic"/>
              </a:defRPr>
            </a:pPr>
            <a:r>
              <a:rPr b="1" sz="1800">
                <a:solidFill>
                  <a:srgbClr val="93C5FD"/>
                </a:solidFill>
              </a:rPr>
              <a:t>• 피지컬 AI: </a:t>
            </a:r>
            <a:r>
              <a:rPr sz="1600">
                <a:solidFill>
                  <a:srgbClr val="CBD5E1"/>
                </a:solidFill>
              </a:rPr>
              <a:t>로보틱스와 AI가 접목되어 로봇이 스스로 환경을 인식/판단하고 육체적인 작업 수행 (예: 계란후라이 뒤집기 성공)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2. AI 대화하기: 3가지 기법과 바이브 코딩</a:t>
            </a:r>
          </a:p>
        </p:txBody>
      </p:sp>
      <p:sp>
        <p:nvSpPr>
          <p:cNvPr id="5" name="TextBox 4"/>
          <p:cNvSpPr txBox="1"/>
          <p:nvPr/>
        </p:nvSpPr>
        <p:spPr>
          <a:xfrm>
            <a:off x="914400" y="1828800"/>
            <a:ext cx="10332720" cy="41148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1. R-C-T-F 공식 (기본 작성법) </a:t>
            </a:r>
            <a:r>
              <a:rPr sz="1800">
                <a:solidFill>
                  <a:srgbClr val="CBD5E1"/>
                </a:solidFill>
              </a:rPr>
              <a:t>역할(Role) + 배경(Context) + 작업(Task) + 형식(Format)을 결합하여 원하는 답변을 단번에 얻어냄</a:t>
            </a:r>
          </a:p>
          <a:p>
            <a:pPr>
              <a:lnSpc>
                <a:spcPct val="120000"/>
              </a:lnSpc>
              <a:spcAft>
                <a:spcPts val="800"/>
              </a:spcAft>
              <a:defRPr>
                <a:latin typeface="Malgun Gothic"/>
              </a:defRPr>
            </a:pPr>
            <a:r>
              <a:rPr b="1" sz="2000">
                <a:solidFill>
                  <a:srgbClr val="93C5FD"/>
                </a:solidFill>
              </a:rPr>
              <a:t>2. 생각의 고리 (CoT 기법) </a:t>
            </a:r>
            <a:r>
              <a:rPr sz="1800">
                <a:solidFill>
                  <a:srgbClr val="CBD5E1"/>
                </a:solidFill>
              </a:rPr>
              <a:t>"단계별로 차근차근 생각해줘"를 통해 AI의 추론 논리력과 계산 정확도를 획기적으로 상승</a:t>
            </a:r>
          </a:p>
          <a:p>
            <a:pPr>
              <a:lnSpc>
                <a:spcPct val="120000"/>
              </a:lnSpc>
              <a:spcAft>
                <a:spcPts val="800"/>
              </a:spcAft>
              <a:defRPr>
                <a:latin typeface="Malgun Gothic"/>
              </a:defRPr>
            </a:pPr>
            <a:r>
              <a:rPr b="1" sz="2000">
                <a:solidFill>
                  <a:srgbClr val="93C5FD"/>
                </a:solidFill>
              </a:rPr>
              <a:t>3. 예시 주입 (Shot 기반 프롬프팅) </a:t>
            </a:r>
            <a:r>
              <a:rPr sz="1800">
                <a:solidFill>
                  <a:srgbClr val="CBD5E1"/>
                </a:solidFill>
              </a:rPr>
              <a:t>대화 속에 예시(Shot)를 제공하여 특이한 서식이나 구체적인 말투를 완전히 모방하도록 학습</a:t>
            </a:r>
          </a:p>
          <a:p>
            <a:pPr>
              <a:lnSpc>
                <a:spcPct val="120000"/>
              </a:lnSpc>
              <a:spcAft>
                <a:spcPts val="800"/>
              </a:spcAft>
              <a:defRPr>
                <a:latin typeface="Malgun Gothic"/>
              </a:defRPr>
            </a:pPr>
            <a:r>
              <a:rPr b="1" sz="2000">
                <a:solidFill>
                  <a:srgbClr val="93C5FD"/>
                </a:solidFill>
              </a:rPr>
              <a:t>🏄‍♂️ 바이브 코딩 (Vibe Coding): </a:t>
            </a:r>
            <a:r>
              <a:rPr sz="1800">
                <a:solidFill>
                  <a:srgbClr val="CBD5E1"/>
                </a:solidFill>
              </a:rPr>
              <a:t>코딩 문법을 몰라도 자연어로 기획과 의도(Vibe)를 전달해 앱을 바로 빌드해 나가는 개발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2-1. 프롬프트 작성의 기본: R-C-T-F 공식</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R-C-T-F 공식: </a:t>
            </a:r>
            <a:r>
              <a:rPr sz="1800">
                <a:solidFill>
                  <a:srgbClr val="CBD5E1"/>
                </a:solidFill>
              </a:rPr>
              <a:t>Role(역할) + Context(배경) + Task(작업) + Format(형식)</a:t>
            </a:r>
          </a:p>
          <a:p>
            <a:pPr lvl="1">
              <a:lnSpc>
                <a:spcPct val="120000"/>
              </a:lnSpc>
              <a:spcAft>
                <a:spcPts val="800"/>
              </a:spcAft>
              <a:defRPr>
                <a:latin typeface="Malgun Gothic"/>
              </a:defRPr>
            </a:pPr>
            <a:r>
              <a:rPr b="1" sz="1800">
                <a:solidFill>
                  <a:srgbClr val="93C5FD"/>
                </a:solidFill>
              </a:rPr>
              <a:t>• Role (역할): </a:t>
            </a:r>
            <a:r>
              <a:rPr sz="1600">
                <a:solidFill>
                  <a:srgbClr val="CBD5E1"/>
                </a:solidFill>
              </a:rPr>
              <a:t>AI에게 전문가 타이틀 부여 (예: "너는 15년 차 베테랑 일본 전문 여행 가이드야")</a:t>
            </a:r>
          </a:p>
          <a:p>
            <a:pPr lvl="1">
              <a:lnSpc>
                <a:spcPct val="120000"/>
              </a:lnSpc>
              <a:spcAft>
                <a:spcPts val="800"/>
              </a:spcAft>
              <a:defRPr>
                <a:latin typeface="Malgun Gothic"/>
              </a:defRPr>
            </a:pPr>
            <a:r>
              <a:rPr b="1" sz="1800">
                <a:solidFill>
                  <a:srgbClr val="93C5FD"/>
                </a:solidFill>
              </a:rPr>
              <a:t>• Context (배경): </a:t>
            </a:r>
            <a:r>
              <a:rPr sz="1600">
                <a:solidFill>
                  <a:srgbClr val="CBD5E1"/>
                </a:solidFill>
              </a:rPr>
              <a:t>구체적인 본인의 상황과 제한 조건 (예: "무릎 약하신 60대 어머니와 초등학생 자녀의 3박 4일 여행")</a:t>
            </a:r>
          </a:p>
          <a:p>
            <a:pPr lvl="1">
              <a:lnSpc>
                <a:spcPct val="120000"/>
              </a:lnSpc>
              <a:spcAft>
                <a:spcPts val="800"/>
              </a:spcAft>
              <a:defRPr>
                <a:latin typeface="Malgun Gothic"/>
              </a:defRPr>
            </a:pPr>
            <a:r>
              <a:rPr b="1" sz="1800">
                <a:solidFill>
                  <a:srgbClr val="93C5FD"/>
                </a:solidFill>
              </a:rPr>
              <a:t>• Task (작업): </a:t>
            </a:r>
            <a:r>
              <a:rPr sz="1600">
                <a:solidFill>
                  <a:srgbClr val="CBD5E1"/>
                </a:solidFill>
              </a:rPr>
              <a:t>수행할 구체적인 미션 (예: "이동 걸음 수를 최소화하는 유니버셜 스튜디오 코스 설계")</a:t>
            </a:r>
          </a:p>
          <a:p>
            <a:pPr lvl="1">
              <a:lnSpc>
                <a:spcPct val="120000"/>
              </a:lnSpc>
              <a:spcAft>
                <a:spcPts val="800"/>
              </a:spcAft>
              <a:defRPr>
                <a:latin typeface="Malgun Gothic"/>
              </a:defRPr>
            </a:pPr>
            <a:r>
              <a:rPr b="1" sz="1800">
                <a:solidFill>
                  <a:srgbClr val="93C5FD"/>
                </a:solidFill>
              </a:rPr>
              <a:t>• Format (형식): </a:t>
            </a:r>
            <a:r>
              <a:rPr sz="1600">
                <a:solidFill>
                  <a:srgbClr val="CBD5E1"/>
                </a:solidFill>
              </a:rPr>
              <a:t>출력 모양 정의 (예: "일정은 시간대 흐름을 볼 수 있게 깔끔한 표(Table)로 정리해줘")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2-2. 생각의 고리: Chain of Thought (CoT)</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핵심 개념: </a:t>
            </a:r>
            <a:r>
              <a:rPr sz="1800">
                <a:solidFill>
                  <a:srgbClr val="CBD5E1"/>
                </a:solidFill>
              </a:rPr>
              <a:t>복잡한 문제 해결 시 바로 답을 구하기보다 논리적 절차를 순차적으로 생각하게 유도합니다.</a:t>
            </a:r>
          </a:p>
          <a:p>
            <a:pPr>
              <a:lnSpc>
                <a:spcPct val="120000"/>
              </a:lnSpc>
              <a:spcAft>
                <a:spcPts val="800"/>
              </a:spcAft>
              <a:defRPr>
                <a:latin typeface="Malgun Gothic"/>
              </a:defRPr>
            </a:pPr>
            <a:r>
              <a:rPr b="1" sz="2000">
                <a:solidFill>
                  <a:srgbClr val="93C5FD"/>
                </a:solidFill>
              </a:rPr>
              <a:t>■ 핵심 키워드: </a:t>
            </a:r>
            <a:r>
              <a:rPr sz="1800">
                <a:solidFill>
                  <a:srgbClr val="CBD5E1"/>
                </a:solidFill>
              </a:rPr>
              <a:t>"단계별로 생각을 나누어 차근차근 풀이해줘" 문장 추가</a:t>
            </a:r>
          </a:p>
          <a:p>
            <a:pPr>
              <a:lnSpc>
                <a:spcPct val="120000"/>
              </a:lnSpc>
              <a:spcAft>
                <a:spcPts val="800"/>
              </a:spcAft>
              <a:defRPr>
                <a:latin typeface="Malgun Gothic"/>
              </a:defRPr>
            </a:pPr>
            <a:r>
              <a:rPr b="1" sz="2000">
                <a:solidFill>
                  <a:srgbClr val="93C5FD"/>
                </a:solidFill>
              </a:rPr>
              <a:t>💡 CoT 적용 예시 (수학 문제): </a:t>
            </a:r>
            <a:r>
              <a:rPr sz="1800">
                <a:solidFill>
                  <a:srgbClr val="CBD5E1"/>
                </a:solidFill>
              </a:rPr>
              <a:t/>
            </a:r>
          </a:p>
          <a:p>
            <a:pPr lvl="1">
              <a:lnSpc>
                <a:spcPct val="120000"/>
              </a:lnSpc>
              <a:spcAft>
                <a:spcPts val="800"/>
              </a:spcAft>
              <a:defRPr>
                <a:latin typeface="Malgun Gothic"/>
              </a:defRPr>
            </a:pPr>
            <a:r>
              <a:rPr b="1" sz="1800">
                <a:solidFill>
                  <a:srgbClr val="93C5FD"/>
                </a:solidFill>
              </a:rPr>
              <a:t>• 질문: </a:t>
            </a:r>
            <a:r>
              <a:rPr sz="1600">
                <a:solidFill>
                  <a:srgbClr val="CBD5E1"/>
                </a:solidFill>
              </a:rPr>
              <a:t>"우리 반 학생 30명 중 축구를 좋아하는 애가 60%이고 그중 안경을 쓴 애가 1/3이야. 안경 쓴 애는 몇 명인지 단계별로 생각을 나누어 차근차근 풀이해줘."</a:t>
            </a:r>
          </a:p>
          <a:p>
            <a:pPr lvl="1">
              <a:lnSpc>
                <a:spcPct val="120000"/>
              </a:lnSpc>
              <a:spcAft>
                <a:spcPts val="800"/>
              </a:spcAft>
              <a:defRPr>
                <a:latin typeface="Malgun Gothic"/>
              </a:defRPr>
            </a:pPr>
            <a:r>
              <a:rPr b="1" sz="1800">
                <a:solidFill>
                  <a:srgbClr val="93C5FD"/>
                </a:solidFill>
              </a:rPr>
              <a:t>• AI의 논리적 답변: </a:t>
            </a:r>
            <a:r>
              <a:rPr sz="1600">
                <a:solidFill>
                  <a:srgbClr val="CBD5E1"/>
                </a:solidFill>
              </a:rPr>
              <a:t/>
            </a:r>
          </a:p>
          <a:p>
            <a:pPr lvl="2">
              <a:lnSpc>
                <a:spcPct val="120000"/>
              </a:lnSpc>
              <a:spcAft>
                <a:spcPts val="800"/>
              </a:spcAft>
              <a:defRPr>
                <a:latin typeface="Malgun Gothic"/>
              </a:defRPr>
            </a:pPr>
            <a:r>
              <a:rPr b="1" sz="1600">
                <a:solidFill>
                  <a:srgbClr val="93C5FD"/>
                </a:solidFill>
              </a:rPr>
              <a:t>  - 1단계: </a:t>
            </a:r>
            <a:r>
              <a:rPr sz="1400">
                <a:solidFill>
                  <a:srgbClr val="CBD5E1"/>
                </a:solidFill>
              </a:rPr>
              <a:t>축구 좋아하는 학생 수 계산 = 30명 * 0.6 = 18명.</a:t>
            </a:r>
          </a:p>
          <a:p>
            <a:pPr lvl="2">
              <a:lnSpc>
                <a:spcPct val="120000"/>
              </a:lnSpc>
              <a:spcAft>
                <a:spcPts val="800"/>
              </a:spcAft>
              <a:defRPr>
                <a:latin typeface="Malgun Gothic"/>
              </a:defRPr>
            </a:pPr>
            <a:r>
              <a:rPr b="1" sz="1600">
                <a:solidFill>
                  <a:srgbClr val="93C5FD"/>
                </a:solidFill>
              </a:rPr>
              <a:t>  - 2단계: </a:t>
            </a:r>
            <a:r>
              <a:rPr sz="1400">
                <a:solidFill>
                  <a:srgbClr val="CBD5E1"/>
                </a:solidFill>
              </a:rPr>
              <a:t>그중 안경 쓴 학생 수 계산 = 18명 * 1/3 = 6명.</a:t>
            </a:r>
          </a:p>
          <a:p>
            <a:pPr lvl="2">
              <a:lnSpc>
                <a:spcPct val="120000"/>
              </a:lnSpc>
              <a:spcAft>
                <a:spcPts val="800"/>
              </a:spcAft>
              <a:defRPr>
                <a:latin typeface="Malgun Gothic"/>
              </a:defRPr>
            </a:pPr>
            <a:r>
              <a:rPr b="1" sz="1600">
                <a:solidFill>
                  <a:srgbClr val="93C5FD"/>
                </a:solidFill>
              </a:rPr>
              <a:t>  - 최종 답: </a:t>
            </a:r>
            <a:r>
              <a:rPr sz="1400">
                <a:solidFill>
                  <a:srgbClr val="CBD5E1"/>
                </a:solidFill>
              </a:rPr>
              <a:t>6명입니다.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2-3. 예시 주입: 샷(Shot) 기반 프롬프팅</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샷(Shot) 종류와 Roblox 대화 번역 실습: </a:t>
            </a:r>
            <a:r>
              <a:rPr sz="1800">
                <a:solidFill>
                  <a:srgbClr val="CBD5E1"/>
                </a:solidFill>
              </a:rPr>
              <a:t>예시 주입을 통해 구체적인 서식과 대화 뉘앙스를 교육합니다.</a:t>
            </a:r>
          </a:p>
          <a:p>
            <a:pPr lvl="1">
              <a:lnSpc>
                <a:spcPct val="120000"/>
              </a:lnSpc>
              <a:spcAft>
                <a:spcPts val="800"/>
              </a:spcAft>
              <a:defRPr>
                <a:latin typeface="Malgun Gothic"/>
              </a:defRPr>
            </a:pPr>
            <a:r>
              <a:rPr b="1" sz="1800">
                <a:solidFill>
                  <a:srgbClr val="93C5FD"/>
                </a:solidFill>
              </a:rPr>
              <a:t>• Zero-shot (제로샷): </a:t>
            </a:r>
            <a:r>
              <a:rPr sz="1600">
                <a:solidFill>
                  <a:srgbClr val="CBD5E1"/>
                </a:solidFill>
              </a:rPr>
              <a:t>예시 없이 즉시 질문 (예: "로블록스에서 외국인과 대화하고 싶어")</a:t>
            </a:r>
          </a:p>
          <a:p>
            <a:pPr lvl="1">
              <a:lnSpc>
                <a:spcPct val="120000"/>
              </a:lnSpc>
              <a:spcAft>
                <a:spcPts val="800"/>
              </a:spcAft>
              <a:defRPr>
                <a:latin typeface="Malgun Gothic"/>
              </a:defRPr>
            </a:pPr>
            <a:r>
              <a:rPr b="1" sz="1800">
                <a:solidFill>
                  <a:srgbClr val="93C5FD"/>
                </a:solidFill>
              </a:rPr>
              <a:t>• One-shot (원샷): </a:t>
            </a:r>
            <a:r>
              <a:rPr sz="1600">
                <a:solidFill>
                  <a:srgbClr val="CBD5E1"/>
                </a:solidFill>
              </a:rPr>
              <a:t>원하는 스타일의 대화 예시를 딱 1개 보여주고 지시</a:t>
            </a:r>
          </a:p>
          <a:p>
            <a:pPr lvl="2">
              <a:lnSpc>
                <a:spcPct val="120000"/>
              </a:lnSpc>
              <a:spcAft>
                <a:spcPts val="800"/>
              </a:spcAft>
              <a:defRPr>
                <a:latin typeface="Malgun Gothic"/>
              </a:defRPr>
            </a:pPr>
            <a:r>
              <a:rPr b="1" sz="1600">
                <a:solidFill>
                  <a:srgbClr val="93C5FD"/>
                </a:solidFill>
              </a:rPr>
              <a:t>  - 주입 예시: </a:t>
            </a:r>
            <a:r>
              <a:rPr sz="1400">
                <a:solidFill>
                  <a:srgbClr val="CBD5E1"/>
                </a:solidFill>
              </a:rPr>
              <a:t>"로블록스에서 외국인과 대화하고 싶어. 님! 제발 사냥터 A 같이 깨주시면 안될까요?"</a:t>
            </a:r>
          </a:p>
          <a:p>
            <a:pPr lvl="1">
              <a:lnSpc>
                <a:spcPct val="120000"/>
              </a:lnSpc>
              <a:spcAft>
                <a:spcPts val="800"/>
              </a:spcAft>
              <a:defRPr>
                <a:latin typeface="Malgun Gothic"/>
              </a:defRPr>
            </a:pPr>
            <a:r>
              <a:rPr b="1" sz="1800">
                <a:solidFill>
                  <a:srgbClr val="93C5FD"/>
                </a:solidFill>
              </a:rPr>
              <a:t>• Few-shot (퓨샷): </a:t>
            </a:r>
            <a:r>
              <a:rPr sz="1600">
                <a:solidFill>
                  <a:srgbClr val="CBD5E1"/>
                </a:solidFill>
              </a:rPr>
              <a:t>자주 쓰이는 대화 예시를 3개 이상 입력하여 AI가 완벽하게 서식을 모방하도록 유도</a:t>
            </a:r>
          </a:p>
          <a:p>
            <a:pPr lvl="2">
              <a:lnSpc>
                <a:spcPct val="120000"/>
              </a:lnSpc>
              <a:spcAft>
                <a:spcPts val="800"/>
              </a:spcAft>
              <a:defRPr>
                <a:latin typeface="Malgun Gothic"/>
              </a:defRPr>
            </a:pPr>
            <a:r>
              <a:rPr b="1" sz="1600">
                <a:solidFill>
                  <a:srgbClr val="93C5FD"/>
                </a:solidFill>
              </a:rPr>
              <a:t>  - 주입 예시: </a:t>
            </a:r>
            <a:r>
              <a:rPr sz="1400">
                <a:solidFill>
                  <a:srgbClr val="CBD5E1"/>
                </a:solidFill>
              </a:rPr>
              <a:t>"로블록스에서 외국인과 대화하고 싶어. 아래와 같은 게임에서 많이 쓰는 대화들 알려줘. 1) 님! 제발 사냥터 A 같이 깨주시면 안될까요? 2) 제 아이템과 그 검 교환해주실 수 있나요? 3) 내일 같은 시간에 또 게임 같이 하실래요?"</a:t>
            </a:r>
          </a:p>
          <a:p>
            <a:pPr lvl="2">
              <a:lnSpc>
                <a:spcPct val="120000"/>
              </a:lnSpc>
              <a:spcAft>
                <a:spcPts val="800"/>
              </a:spcAft>
              <a:defRPr>
                <a:latin typeface="Malgun Gothic"/>
              </a:defRPr>
            </a:pPr>
            <a:r>
              <a:rPr b="1" sz="1600">
                <a:solidFill>
                  <a:srgbClr val="93C5FD"/>
                </a:solidFill>
              </a:rPr>
              <a:t>  - Task 지정: </a:t>
            </a:r>
            <a:r>
              <a:rPr sz="1400">
                <a:solidFill>
                  <a:srgbClr val="CBD5E1"/>
                </a:solidFill>
              </a:rPr>
              <a:t>"이런식의 대화들 질문과 답변 예시를 보여주고 영어로 대화해 보고 싶어."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3. 바이브 코딩 (Vibe Coding)이란?</a:t>
            </a:r>
          </a:p>
        </p:txBody>
      </p:sp>
      <p:sp>
        <p:nvSpPr>
          <p:cNvPr id="5" name="TextBox 4"/>
          <p:cNvSpPr txBox="1"/>
          <p:nvPr/>
        </p:nvSpPr>
        <p:spPr>
          <a:xfrm>
            <a:off x="914400" y="1828800"/>
            <a:ext cx="10332720" cy="41148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정의: </a:t>
            </a:r>
            <a:r>
              <a:rPr sz="1800">
                <a:solidFill>
                  <a:srgbClr val="CBD5E1"/>
                </a:solidFill>
              </a:rPr>
              <a:t>개발자가 문법을 작성하는 대신 자연어로 의도와 '느낌(Vibe)'을 설명하고, 실제 개발은 AI 에이전트가 수행하는 패러다임</a:t>
            </a:r>
          </a:p>
          <a:p>
            <a:pPr>
              <a:lnSpc>
                <a:spcPct val="120000"/>
              </a:lnSpc>
              <a:spcAft>
                <a:spcPts val="800"/>
              </a:spcAft>
              <a:defRPr>
                <a:latin typeface="Malgun Gothic"/>
              </a:defRPr>
            </a:pPr>
            <a:r>
              <a:rPr b="1" sz="2000">
                <a:solidFill>
                  <a:srgbClr val="93C5FD"/>
                </a:solidFill>
              </a:rPr>
              <a:t>■ 3단계 개발 프로세스 예시 (번역 앱 개발): </a:t>
            </a:r>
            <a:r>
              <a:rPr sz="1800">
                <a:solidFill>
                  <a:srgbClr val="CBD5E1"/>
                </a:solidFill>
              </a:rPr>
              <a:t/>
            </a:r>
          </a:p>
          <a:p>
            <a:pPr lvl="1">
              <a:lnSpc>
                <a:spcPct val="120000"/>
              </a:lnSpc>
              <a:spcAft>
                <a:spcPts val="800"/>
              </a:spcAft>
              <a:defRPr>
                <a:latin typeface="Malgun Gothic"/>
              </a:defRPr>
            </a:pPr>
            <a:r>
              <a:rPr b="1" sz="1800">
                <a:solidFill>
                  <a:srgbClr val="93C5FD"/>
                </a:solidFill>
              </a:rPr>
              <a:t>1. 지시(Vibe)하기: </a:t>
            </a:r>
            <a:r>
              <a:rPr sz="1600">
                <a:solidFill>
                  <a:srgbClr val="CBD5E1"/>
                </a:solidFill>
              </a:rPr>
              <a:t>"외국인과 게임을 같이 하기 위해 실시간 번역해주는 앱을 만들고 싶어"라고 설명</a:t>
            </a:r>
          </a:p>
          <a:p>
            <a:pPr lvl="1">
              <a:lnSpc>
                <a:spcPct val="120000"/>
              </a:lnSpc>
              <a:spcAft>
                <a:spcPts val="800"/>
              </a:spcAft>
              <a:defRPr>
                <a:latin typeface="Malgun Gothic"/>
              </a:defRPr>
            </a:pPr>
            <a:r>
              <a:rPr b="1" sz="1800">
                <a:solidFill>
                  <a:srgbClr val="93C5FD"/>
                </a:solidFill>
              </a:rPr>
              <a:t>2. AI의 자동 빌드: </a:t>
            </a:r>
            <a:r>
              <a:rPr sz="1600">
                <a:solidFill>
                  <a:srgbClr val="CBD5E1"/>
                </a:solidFill>
              </a:rPr>
              <a:t>AI 에이전트가 코드를 스스로 짜고, 에러가 발생하면 알아서 디버깅을 진행해 완성본 생성</a:t>
            </a:r>
          </a:p>
          <a:p>
            <a:pPr lvl="1">
              <a:lnSpc>
                <a:spcPct val="120000"/>
              </a:lnSpc>
              <a:spcAft>
                <a:spcPts val="800"/>
              </a:spcAft>
              <a:defRPr>
                <a:latin typeface="Malgun Gothic"/>
              </a:defRPr>
            </a:pPr>
            <a:r>
              <a:rPr b="1" sz="1800">
                <a:solidFill>
                  <a:srgbClr val="93C5FD"/>
                </a:solidFill>
              </a:rPr>
              <a:t>3. 검증 및 지휘: </a:t>
            </a:r>
            <a:r>
              <a:rPr sz="1600">
                <a:solidFill>
                  <a:srgbClr val="CBD5E1"/>
                </a:solidFill>
              </a:rPr>
              <a:t>사람은 코드를 일일이 뜯어보지 않고, 완성된 결과물을 보면서 더 멋지게 수정하도록 피드백(지휘)만 수행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4. AI 활용 실습 (생활밀착형)</a:t>
            </a:r>
          </a:p>
        </p:txBody>
      </p:sp>
      <p:sp>
        <p:nvSpPr>
          <p:cNvPr id="5" name="TextBox 4"/>
          <p:cNvSpPr txBox="1"/>
          <p:nvPr/>
        </p:nvSpPr>
        <p:spPr>
          <a:xfrm>
            <a:off x="914400" y="1828800"/>
            <a:ext cx="10332720" cy="41148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실습 1. Suno AI로 노래 만들기 </a:t>
            </a:r>
            <a:r>
              <a:rPr sz="1800">
                <a:solidFill>
                  <a:srgbClr val="CBD5E1"/>
                </a:solidFill>
              </a:rPr>
              <a:t>음악 작사/작곡 메타 정보를 이용한 곡 창작 실습 (RCTF)</a:t>
            </a:r>
          </a:p>
          <a:p>
            <a:pPr>
              <a:lnSpc>
                <a:spcPct val="120000"/>
              </a:lnSpc>
              <a:spcAft>
                <a:spcPts val="800"/>
              </a:spcAft>
              <a:defRPr>
                <a:latin typeface="Malgun Gothic"/>
              </a:defRPr>
            </a:pPr>
            <a:r>
              <a:rPr b="1" sz="2000">
                <a:solidFill>
                  <a:srgbClr val="93C5FD"/>
                </a:solidFill>
              </a:rPr>
              <a:t>실습 2. 엄마 없는 날, 백종원 스타일 레시피 </a:t>
            </a:r>
            <a:r>
              <a:rPr sz="1800">
                <a:solidFill>
                  <a:srgbClr val="CBD5E1"/>
                </a:solidFill>
              </a:rPr>
              <a:t>냉장고 속 남은 재료 맞춤형 3단계 레시피 짜기 (R-C-T-F)</a:t>
            </a:r>
          </a:p>
          <a:p>
            <a:pPr>
              <a:lnSpc>
                <a:spcPct val="120000"/>
              </a:lnSpc>
              <a:spcAft>
                <a:spcPts val="800"/>
              </a:spcAft>
              <a:defRPr>
                <a:latin typeface="Malgun Gothic"/>
              </a:defRPr>
            </a:pPr>
            <a:r>
              <a:rPr b="1" sz="2000">
                <a:solidFill>
                  <a:srgbClr val="93C5FD"/>
                </a:solidFill>
              </a:rPr>
              <a:t>실습 3. 자녀 수학 숙제 캐리하기 </a:t>
            </a:r>
            <a:r>
              <a:rPr sz="1800">
                <a:solidFill>
                  <a:srgbClr val="CBD5E1"/>
                </a:solidFill>
              </a:rPr>
              <a:t>통분하는 법을 가르치는 친절한 설명 및 음성(TTS)용 멘트 작성 (COT)</a:t>
            </a:r>
          </a:p>
          <a:p>
            <a:pPr>
              <a:lnSpc>
                <a:spcPct val="120000"/>
              </a:lnSpc>
              <a:spcAft>
                <a:spcPts val="800"/>
              </a:spcAft>
              <a:defRPr>
                <a:latin typeface="Malgun Gothic"/>
              </a:defRPr>
            </a:pPr>
            <a:r>
              <a:rPr b="1" sz="2000">
                <a:solidFill>
                  <a:srgbClr val="93C5FD"/>
                </a:solidFill>
              </a:rPr>
              <a:t>실습 5. 중고등학생 축제/동아리 기획서 짜기 </a:t>
            </a:r>
            <a:r>
              <a:rPr sz="1800">
                <a:solidFill>
                  <a:srgbClr val="CBD5E1"/>
                </a:solidFill>
              </a:rPr>
              <a:t>AI와 다단계 검증 및 질의응답 피드백을 통해 최종 기획서 PPTX 완성 (바이브 코딩)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실습 1. Suno AI로 노래 만들기</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참고 가이드 영상: </a:t>
            </a:r>
            <a:r>
              <a:rPr sz="1800" u="sng">
                <a:solidFill>
                  <a:srgbClr val="2DD4BF"/>
                </a:solidFill>
              </a:rPr>
              <a:t>https://www.youtube.com/shorts/4sZpKfbCo7A</a:t>
            </a:r>
          </a:p>
          <a:p>
            <a:pPr>
              <a:lnSpc>
                <a:spcPct val="120000"/>
              </a:lnSpc>
              <a:spcAft>
                <a:spcPts val="800"/>
              </a:spcAft>
              <a:defRPr>
                <a:latin typeface="Malgun Gothic"/>
              </a:defRPr>
            </a:pPr>
            <a:r>
              <a:rPr b="1" sz="2000">
                <a:solidFill>
                  <a:srgbClr val="93C5FD"/>
                </a:solidFill>
              </a:rPr>
              <a:t>■ 무료 크레딧 안내: </a:t>
            </a:r>
            <a:r>
              <a:rPr sz="1800">
                <a:solidFill>
                  <a:srgbClr val="CBD5E1"/>
                </a:solidFill>
              </a:rPr>
              <a:t>매일 50크레딧 리셋 (1회당 10크레딧 소모 ➡️ 2곡 생성, 하루 총 10곡 무료)</a:t>
            </a:r>
          </a:p>
          <a:p>
            <a:pPr>
              <a:lnSpc>
                <a:spcPct val="120000"/>
              </a:lnSpc>
              <a:spcAft>
                <a:spcPts val="800"/>
              </a:spcAft>
              <a:defRPr>
                <a:latin typeface="Malgun Gothic"/>
              </a:defRPr>
            </a:pPr>
            <a:r>
              <a:rPr b="1" sz="2000">
                <a:solidFill>
                  <a:srgbClr val="93C5FD"/>
                </a:solidFill>
              </a:rPr>
              <a:t>■ 1단계: GPT를 통한 작사(RCTF 프롬프트): </a:t>
            </a:r>
            <a:r>
              <a:rPr sz="1800">
                <a:solidFill>
                  <a:srgbClr val="CBD5E1"/>
                </a:solidFill>
              </a:rPr>
              <a:t/>
            </a:r>
          </a:p>
          <a:p>
            <a:pPr lvl="1">
              <a:lnSpc>
                <a:spcPct val="120000"/>
              </a:lnSpc>
              <a:spcAft>
                <a:spcPts val="800"/>
              </a:spcAft>
              <a:defRPr>
                <a:latin typeface="Malgun Gothic"/>
              </a:defRPr>
            </a:pPr>
            <a:r>
              <a:rPr b="1" sz="1800">
                <a:solidFill>
                  <a:srgbClr val="93C5FD"/>
                </a:solidFill>
              </a:rPr>
              <a:t>• Role/Context: </a:t>
            </a:r>
            <a:r>
              <a:rPr sz="1600">
                <a:solidFill>
                  <a:srgbClr val="CBD5E1"/>
                </a:solidFill>
              </a:rPr>
              <a:t>"너는 방탄소년단 곡들을 모두 만든 천재 작곡가야", "중학교 2학년 학생이고 기말고사로 많이 지쳐있어. 난 학원만 저녁에 3개 다녀. 누워서 뒹굴 거리다 종종 낮 잠도 자고 싶어."</a:t>
            </a:r>
          </a:p>
          <a:p>
            <a:pPr lvl="1">
              <a:lnSpc>
                <a:spcPct val="120000"/>
              </a:lnSpc>
              <a:spcAft>
                <a:spcPts val="800"/>
              </a:spcAft>
              <a:defRPr>
                <a:latin typeface="Malgun Gothic"/>
              </a:defRPr>
            </a:pPr>
            <a:r>
              <a:rPr b="1" sz="1800">
                <a:solidFill>
                  <a:srgbClr val="93C5FD"/>
                </a:solidFill>
              </a:rPr>
              <a:t>• Task/Format: </a:t>
            </a:r>
            <a:r>
              <a:rPr sz="1600">
                <a:solidFill>
                  <a:srgbClr val="CBD5E1"/>
                </a:solidFill>
              </a:rPr>
              <a:t>"방탄소년단 스타일 EDM 분위기 댄스곡 가사를 작사해줘", "가사를 suno ai가 분석하기 편하게 markdown 문법으로 작성해줘"</a:t>
            </a:r>
          </a:p>
          <a:p>
            <a:pPr>
              <a:lnSpc>
                <a:spcPct val="120000"/>
              </a:lnSpc>
              <a:spcAft>
                <a:spcPts val="800"/>
              </a:spcAft>
              <a:defRPr>
                <a:latin typeface="Malgun Gothic"/>
              </a:defRPr>
            </a:pPr>
            <a:r>
              <a:rPr b="1" sz="2000">
                <a:solidFill>
                  <a:srgbClr val="93C5FD"/>
                </a:solidFill>
              </a:rPr>
              <a:t>■ 2단계: Suno AI 가사 및 세부 조건 지정: </a:t>
            </a:r>
            <a:r>
              <a:rPr sz="1800">
                <a:solidFill>
                  <a:srgbClr val="CBD5E1"/>
                </a:solidFill>
              </a:rPr>
              <a:t/>
            </a:r>
          </a:p>
          <a:p>
            <a:pPr lvl="1">
              <a:lnSpc>
                <a:spcPct val="120000"/>
              </a:lnSpc>
              <a:spcAft>
                <a:spcPts val="800"/>
              </a:spcAft>
              <a:defRPr>
                <a:latin typeface="Malgun Gothic"/>
              </a:defRPr>
            </a:pPr>
            <a:r>
              <a:rPr b="1" sz="1800">
                <a:solidFill>
                  <a:srgbClr val="93C5FD"/>
                </a:solidFill>
              </a:rPr>
              <a:t>• Task / 조건: </a:t>
            </a:r>
            <a:r>
              <a:rPr sz="1600">
                <a:solidFill>
                  <a:srgbClr val="CBD5E1"/>
                </a:solidFill>
              </a:rPr>
              <a:t>"이 가사로 노래 만들어줘.", "욕이 나오면 안되고 초등 중등 학생들 비하하는 표현이 나오면 안돼. 너무 슬프지는 않았으면 좋겠어. 처음 인트로는 드럼 솔로로 강력하게 시작했으면 좋겠어. 방탄 스러운 보이스의 남자 가수 스타일로 불렀으면 좋겠어."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실습 2. 엄마 없는 날, 백종원 스타일 레시피</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엄마 없는 날, 백종원 스타일 냉장고 털이 (R-C-T-F) </a:t>
            </a:r>
            <a:r>
              <a:rPr sz="1800">
                <a:solidFill>
                  <a:srgbClr val="CBD5E1"/>
                </a:solidFill>
              </a:rPr>
              <a:t>냉장고 속 방치된 재료들을 모아 전문 셰프급 요리로 재탄생시킵니다.</a:t>
            </a:r>
          </a:p>
          <a:p>
            <a:pPr lvl="1">
              <a:lnSpc>
                <a:spcPct val="120000"/>
              </a:lnSpc>
              <a:spcAft>
                <a:spcPts val="800"/>
              </a:spcAft>
              <a:defRPr>
                <a:latin typeface="Malgun Gothic"/>
              </a:defRPr>
            </a:pPr>
            <a:r>
              <a:rPr b="1" sz="1800">
                <a:solidFill>
                  <a:srgbClr val="93C5FD"/>
                </a:solidFill>
              </a:rPr>
              <a:t>• 요리사 선택: </a:t>
            </a:r>
            <a:r>
              <a:rPr sz="1600">
                <a:solidFill>
                  <a:srgbClr val="CBD5E1"/>
                </a:solidFill>
              </a:rPr>
              <a:t>백종원 또는 김풍 요리사 중 본인의 요리 콘셉트에 맞춰 선택 가능</a:t>
            </a:r>
          </a:p>
          <a:p>
            <a:pPr lvl="1">
              <a:lnSpc>
                <a:spcPct val="120000"/>
              </a:lnSpc>
              <a:spcAft>
                <a:spcPts val="800"/>
              </a:spcAft>
              <a:defRPr>
                <a:latin typeface="Malgun Gothic"/>
              </a:defRPr>
            </a:pPr>
            <a:r>
              <a:rPr b="1" sz="1800">
                <a:solidFill>
                  <a:srgbClr val="93C5FD"/>
                </a:solidFill>
              </a:rPr>
              <a:t>• 입력 데이터: </a:t>
            </a:r>
            <a:r>
              <a:rPr sz="1600">
                <a:solidFill>
                  <a:srgbClr val="CBD5E1"/>
                </a:solidFill>
              </a:rPr>
              <a:t>냉장고 속 식재료 리스트 (예: 어제 먹다 남은 햄 조금, 시들어가는 대파, 냉동실 찬밥 2공기, 계란 2개 등)</a:t>
            </a:r>
          </a:p>
          <a:p>
            <a:pPr lvl="1">
              <a:lnSpc>
                <a:spcPct val="120000"/>
              </a:lnSpc>
              <a:spcAft>
                <a:spcPts val="800"/>
              </a:spcAft>
              <a:defRPr>
                <a:latin typeface="Malgun Gothic"/>
              </a:defRPr>
            </a:pPr>
            <a:r>
              <a:rPr b="1" sz="1800">
                <a:solidFill>
                  <a:srgbClr val="93C5FD"/>
                </a:solidFill>
              </a:rPr>
              <a:t>• 수행 미션 (Task): </a:t>
            </a:r>
            <a:r>
              <a:rPr sz="1600">
                <a:solidFill>
                  <a:srgbClr val="CBD5E1"/>
                </a:solidFill>
              </a:rPr>
              <a:t>설거지거리를 최소화(원팬 요리 권장)하면서, 친구나 아이들과 함께 한 끼를 맛있게 뚝딱 해결할 수 있는 초간단 레시피 제안</a:t>
            </a:r>
          </a:p>
          <a:p>
            <a:pPr lvl="1">
              <a:lnSpc>
                <a:spcPct val="120000"/>
              </a:lnSpc>
              <a:spcAft>
                <a:spcPts val="800"/>
              </a:spcAft>
              <a:defRPr>
                <a:latin typeface="Malgun Gothic"/>
              </a:defRPr>
            </a:pPr>
            <a:r>
              <a:rPr b="1" sz="1800">
                <a:solidFill>
                  <a:srgbClr val="93C5FD"/>
                </a:solidFill>
              </a:rPr>
              <a:t>• 최종 포맷 (Format): </a:t>
            </a:r>
            <a:r>
              <a:rPr sz="1600">
                <a:solidFill>
                  <a:srgbClr val="CBD5E1"/>
                </a:solidFill>
              </a:rPr>
              <a:t>친근한 백종원 말투(~쥬, ~해봐요잉)로 구성된 요리 이름, 필요한 도구 및 재료 준비, 딱 3단계 조리 순서, 맛을 2배로 올려줄 백종원의 비밀 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실습 3. 자녀 수학 숙제 캐리하기 (COT 방식)</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통분을 어려워하는 아이를 위한 수학 도우미: </a:t>
            </a:r>
            <a:r>
              <a:rPr sz="1800">
                <a:solidFill>
                  <a:srgbClr val="CBD5E1"/>
                </a:solidFill>
              </a:rPr>
              <a:t>아이가 분수 계산식에서 통분을 어려워하는 상황에 대처합니다. (Gemini 활용)</a:t>
            </a:r>
          </a:p>
          <a:p>
            <a:pPr lvl="1">
              <a:lnSpc>
                <a:spcPct val="120000"/>
              </a:lnSpc>
              <a:spcAft>
                <a:spcPts val="800"/>
              </a:spcAft>
              <a:defRPr>
                <a:latin typeface="Malgun Gothic"/>
              </a:defRPr>
            </a:pPr>
            <a:r>
              <a:rPr b="1" sz="1800">
                <a:solidFill>
                  <a:srgbClr val="93C5FD"/>
                </a:solidFill>
              </a:rPr>
              <a:t>• 실습 프롬프트: </a:t>
            </a:r>
            <a:r>
              <a:rPr sz="1600">
                <a:solidFill>
                  <a:srgbClr val="CBD5E1"/>
                </a:solidFill>
              </a:rPr>
              <a:t>"아이가 분수 계산식에서 분모 통분하는 법을 모르는데... 최소공배수를 이해하지 못해서 그런 것 같아. ** 곱셈부터 단계적으로 설명해서 통분을 이해하고 분수 계산을 할 수 있게 설명해줘. **"</a:t>
            </a:r>
          </a:p>
          <a:p>
            <a:pPr lvl="1">
              <a:lnSpc>
                <a:spcPct val="120000"/>
              </a:lnSpc>
              <a:spcAft>
                <a:spcPts val="800"/>
              </a:spcAft>
              <a:defRPr>
                <a:latin typeface="Malgun Gothic"/>
              </a:defRPr>
            </a:pPr>
            <a:r>
              <a:rPr b="1" sz="1800">
                <a:solidFill>
                  <a:srgbClr val="93C5FD"/>
                </a:solidFill>
              </a:rPr>
              <a:t>• 음성 멘트 출력 유도: </a:t>
            </a:r>
            <a:r>
              <a:rPr sz="1600">
                <a:solidFill>
                  <a:srgbClr val="CBD5E1"/>
                </a:solidFill>
              </a:rPr>
              <a:t>결과를 스마트폰에서 즉시 읽어줄 수 있도록 '음성으로 설명하는 멘트 형태'로 작성을 요청 (모바일 기기 재생 가능)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실습 5. 축제/동아리 기획서 초안 짜기 (바이브 코딩)</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AI와 피드백을 반복하며 완성해 나가는 바이브 코딩 프로세스: </a:t>
            </a:r>
            <a:r>
              <a:rPr sz="1800">
                <a:solidFill>
                  <a:srgbClr val="CBD5E1"/>
                </a:solidFill>
              </a:rPr>
              <a:t>점진적으로 요구사항을 수정 반영하여 높은 완성도의 기획서를 얻어냅니다.</a:t>
            </a:r>
          </a:p>
          <a:p>
            <a:pPr lvl="1">
              <a:lnSpc>
                <a:spcPct val="120000"/>
              </a:lnSpc>
              <a:spcAft>
                <a:spcPts val="800"/>
              </a:spcAft>
              <a:defRPr>
                <a:latin typeface="Malgun Gothic"/>
              </a:defRPr>
            </a:pPr>
            <a:r>
              <a:rPr b="1" sz="1800">
                <a:solidFill>
                  <a:srgbClr val="93C5FD"/>
                </a:solidFill>
              </a:rPr>
              <a:t>• 1차 결과 검증 (피드백): </a:t>
            </a:r>
            <a:r>
              <a:rPr sz="1600">
                <a:solidFill>
                  <a:srgbClr val="CBD5E1"/>
                </a:solidFill>
              </a:rPr>
              <a:t>"배가올경우(비가 올 경우) 햇볓이 너무 강할 경우에 대한 대비가 안되어 있어."</a:t>
            </a:r>
          </a:p>
          <a:p>
            <a:pPr lvl="1">
              <a:lnSpc>
                <a:spcPct val="120000"/>
              </a:lnSpc>
              <a:spcAft>
                <a:spcPts val="800"/>
              </a:spcAft>
              <a:defRPr>
                <a:latin typeface="Malgun Gothic"/>
              </a:defRPr>
            </a:pPr>
            <a:r>
              <a:rPr b="1" sz="1800">
                <a:solidFill>
                  <a:srgbClr val="93C5FD"/>
                </a:solidFill>
              </a:rPr>
              <a:t>• 2차 결과 검증 (디테일 조율): </a:t>
            </a:r>
            <a:r>
              <a:rPr sz="1600">
                <a:solidFill>
                  <a:srgbClr val="CBD5E1"/>
                </a:solidFill>
              </a:rPr>
              <a:t>"기본적인 음악을 깔아두는게 좋을까? 그럼 어떤 음악들이 좋을까?"</a:t>
            </a:r>
          </a:p>
          <a:p>
            <a:pPr lvl="1">
              <a:lnSpc>
                <a:spcPct val="120000"/>
              </a:lnSpc>
              <a:spcAft>
                <a:spcPts val="800"/>
              </a:spcAft>
              <a:defRPr>
                <a:latin typeface="Malgun Gothic"/>
              </a:defRPr>
            </a:pPr>
            <a:r>
              <a:rPr b="1" sz="1800">
                <a:solidFill>
                  <a:srgbClr val="93C5FD"/>
                </a:solidFill>
              </a:rPr>
              <a:t>• 3차 포맷 지정 및 최종 요청 (Format): </a:t>
            </a:r>
            <a:r>
              <a:rPr sz="1600">
                <a:solidFill>
                  <a:srgbClr val="CBD5E1"/>
                </a:solidFill>
              </a:rPr>
              <a:t>"선생님과 친구들 앞에서 발표 할수 있도록 (제목, 목적, 운영 계획, 필요 물품, 기대 효과) 형식으로 PPTX 파일로 작성해 줘. 표지에는 월봉중학교 건물 사진이 포함되었으면 좋겠어."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_ppt_bg_178314368205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731520" y="548640"/>
            <a:ext cx="109728" cy="7315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457200"/>
            <a:ext cx="10058400" cy="914400"/>
          </a:xfrm>
          <a:prstGeom prst="rect">
            <a:avLst/>
          </a:prstGeom>
          <a:noFill/>
        </p:spPr>
        <p:txBody>
          <a:bodyPr wrap="square" lIns="0" rIns="0" tIns="0" bIns="0">
            <a:spAutoFit/>
          </a:bodyPr>
          <a:lstStyle/>
          <a:p>
            <a:pPr>
              <a:defRPr sz="3200" b="1">
                <a:solidFill>
                  <a:srgbClr val="FFFFFF"/>
                </a:solidFill>
                <a:latin typeface="Malgun Gothic"/>
              </a:defRPr>
            </a:pPr>
            <a:r>
              <a:t>📝 내용 요약 및 1강 도전해보기</a:t>
            </a:r>
          </a:p>
        </p:txBody>
      </p:sp>
      <p:sp>
        <p:nvSpPr>
          <p:cNvPr id="5" name="TextBox 4"/>
          <p:cNvSpPr txBox="1"/>
          <p:nvPr/>
        </p:nvSpPr>
        <p:spPr>
          <a:xfrm>
            <a:off x="914400" y="1645920"/>
            <a:ext cx="10332720" cy="4572000"/>
          </a:xfrm>
          <a:prstGeom prst="rect">
            <a:avLst/>
          </a:prstGeom>
          <a:noFill/>
        </p:spPr>
        <p:txBody>
          <a:bodyPr wrap="square">
            <a:spAutoFit/>
          </a:bodyPr>
          <a:lstStyle/>
          <a:p>
            <a:pPr>
              <a:lnSpc>
                <a:spcPct val="120000"/>
              </a:lnSpc>
              <a:spcAft>
                <a:spcPts val="800"/>
              </a:spcAft>
              <a:defRPr>
                <a:latin typeface="Malgun Gothic"/>
              </a:defRPr>
            </a:pPr>
            <a:r>
              <a:rPr b="1" sz="2000">
                <a:solidFill>
                  <a:srgbClr val="93C5FD"/>
                </a:solidFill>
              </a:rPr>
              <a:t>■ 오늘 배운 내용 요약: </a:t>
            </a:r>
            <a:r>
              <a:rPr sz="1800">
                <a:solidFill>
                  <a:srgbClr val="CBD5E1"/>
                </a:solidFill>
              </a:rPr>
              <a:t/>
            </a:r>
          </a:p>
          <a:p>
            <a:pPr lvl="1">
              <a:lnSpc>
                <a:spcPct val="120000"/>
              </a:lnSpc>
              <a:spcAft>
                <a:spcPts val="800"/>
              </a:spcAft>
              <a:defRPr>
                <a:latin typeface="Malgun Gothic"/>
              </a:defRPr>
            </a:pPr>
            <a:r>
              <a:rPr b="1" sz="1800">
                <a:solidFill>
                  <a:srgbClr val="93C5FD"/>
                </a:solidFill>
              </a:rPr>
              <a:t>1. R-C-T-F 기법: </a:t>
            </a:r>
            <a:r>
              <a:rPr sz="1600">
                <a:solidFill>
                  <a:srgbClr val="CBD5E1"/>
                </a:solidFill>
              </a:rPr>
              <a:t>기본적이고 구체적인 의사소통 뼈대 수립</a:t>
            </a:r>
          </a:p>
          <a:p>
            <a:pPr lvl="1">
              <a:lnSpc>
                <a:spcPct val="120000"/>
              </a:lnSpc>
              <a:spcAft>
                <a:spcPts val="800"/>
              </a:spcAft>
              <a:defRPr>
                <a:latin typeface="Malgun Gothic"/>
              </a:defRPr>
            </a:pPr>
            <a:r>
              <a:rPr b="1" sz="1800">
                <a:solidFill>
                  <a:srgbClr val="93C5FD"/>
                </a:solidFill>
              </a:rPr>
              <a:t>2. CoT 기법: </a:t>
            </a:r>
            <a:r>
              <a:rPr sz="1600">
                <a:solidFill>
                  <a:srgbClr val="CBD5E1"/>
                </a:solidFill>
              </a:rPr>
              <a:t>논리적 절차를 순차적으로 생각하게 유도</a:t>
            </a:r>
          </a:p>
          <a:p>
            <a:pPr lvl="1">
              <a:lnSpc>
                <a:spcPct val="120000"/>
              </a:lnSpc>
              <a:spcAft>
                <a:spcPts val="800"/>
              </a:spcAft>
              <a:defRPr>
                <a:latin typeface="Malgun Gothic"/>
              </a:defRPr>
            </a:pPr>
            <a:r>
              <a:rPr b="1" sz="1800">
                <a:solidFill>
                  <a:srgbClr val="93C5FD"/>
                </a:solidFill>
              </a:rPr>
              <a:t>3. Shot 기법: </a:t>
            </a:r>
            <a:r>
              <a:rPr sz="1600">
                <a:solidFill>
                  <a:srgbClr val="CBD5E1"/>
                </a:solidFill>
              </a:rPr>
              <a:t>예시를 통해 원하는 문서 형식과 뉘앙스를 교육</a:t>
            </a:r>
          </a:p>
          <a:p>
            <a:pPr>
              <a:lnSpc>
                <a:spcPct val="120000"/>
              </a:lnSpc>
              <a:spcAft>
                <a:spcPts val="800"/>
              </a:spcAft>
              <a:defRPr>
                <a:latin typeface="Malgun Gothic"/>
              </a:defRPr>
            </a:pPr>
            <a:r>
              <a:rPr b="1" sz="2000">
                <a:solidFill>
                  <a:srgbClr val="93C5FD"/>
                </a:solidFill>
              </a:rPr>
              <a:t>■ 1강 도전해보기 (미션): </a:t>
            </a:r>
            <a:r>
              <a:rPr sz="1800">
                <a:solidFill>
                  <a:srgbClr val="CBD5E1"/>
                </a:solidFill>
              </a:rPr>
              <a:t/>
            </a:r>
          </a:p>
          <a:p>
            <a:pPr lvl="1">
              <a:lnSpc>
                <a:spcPct val="120000"/>
              </a:lnSpc>
              <a:spcAft>
                <a:spcPts val="800"/>
              </a:spcAft>
              <a:defRPr>
                <a:latin typeface="Malgun Gothic"/>
              </a:defRPr>
            </a:pPr>
            <a:r>
              <a:rPr b="1" sz="1800">
                <a:solidFill>
                  <a:srgbClr val="93C5FD"/>
                </a:solidFill>
              </a:rPr>
              <a:t>1. AI를 이용해 내 목소리로 노래 만들기 </a:t>
            </a:r>
            <a:r>
              <a:rPr sz="1600">
                <a:solidFill>
                  <a:srgbClr val="CBD5E1"/>
                </a:solidFill>
              </a:rPr>
              <a:t>(suno-ai-app 이용)</a:t>
            </a:r>
          </a:p>
          <a:p>
            <a:pPr lvl="1">
              <a:lnSpc>
                <a:spcPct val="120000"/>
              </a:lnSpc>
              <a:spcAft>
                <a:spcPts val="800"/>
              </a:spcAft>
              <a:defRPr>
                <a:latin typeface="Malgun Gothic"/>
              </a:defRPr>
            </a:pPr>
            <a:r>
              <a:rPr b="1" sz="1800">
                <a:solidFill>
                  <a:srgbClr val="93C5FD"/>
                </a:solidFill>
              </a:rPr>
              <a:t>2. AI를 이용해 함께하고 싶은 게임 만들기 </a:t>
            </a:r>
            <a:r>
              <a:rPr sz="1600">
                <a:solidFill>
                  <a:srgbClr val="CBD5E1"/>
                </a:solidFill>
              </a:rPr>
              <a:t>(AI와 함께하는 블록코딩으로 레고처럼 만들어보기)</a:t>
            </a:r>
          </a:p>
          <a:p>
            <a:pPr lvl="1">
              <a:lnSpc>
                <a:spcPct val="120000"/>
              </a:lnSpc>
              <a:spcAft>
                <a:spcPts val="800"/>
              </a:spcAft>
              <a:defRPr>
                <a:latin typeface="Malgun Gothic"/>
              </a:defRPr>
            </a:pPr>
            <a:r>
              <a:rPr b="1" sz="1800">
                <a:solidFill>
                  <a:srgbClr val="93C5FD"/>
                </a:solidFill>
              </a:rPr>
              <a:t>3. AI를 이용해 3분 이하 다큐멘터리 영상 초안 만들기 (자막 포함) </a:t>
            </a:r>
            <a:r>
              <a:rPr sz="1600">
                <a:solidFill>
                  <a:srgbClr val="CBD5E1"/>
                </a:solidFill>
              </a:rPr>
              <a:t/>
            </a:r>
          </a:p>
          <a:p>
            <a:pPr lvl="2">
              <a:lnSpc>
                <a:spcPct val="120000"/>
              </a:lnSpc>
              <a:spcAft>
                <a:spcPts val="800"/>
              </a:spcAft>
              <a:defRPr>
                <a:latin typeface="Malgun Gothic"/>
              </a:defRPr>
            </a:pPr>
            <a:r>
              <a:rPr b="1" sz="1600">
                <a:solidFill>
                  <a:srgbClr val="93C5FD"/>
                </a:solidFill>
              </a:rPr>
              <a:t>  - 추천 주제: </a:t>
            </a:r>
            <a:r>
              <a:rPr sz="1400">
                <a:solidFill>
                  <a:srgbClr val="CBD5E1"/>
                </a:solidFill>
              </a:rPr>
              <a:t>내 남동생을 소개합니다, 우리집 강아지 소개 등 일상적인 콘텐츠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